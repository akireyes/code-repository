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oppins Ultra-Bold" charset="1" panose="00000900000000000000"/>
      <p:regular r:id="rId18"/>
    </p:embeddedFont>
    <p:embeddedFont>
      <p:font typeface="Poppins Italics" charset="1" panose="00000500000000000000"/>
      <p:regular r:id="rId19"/>
    </p:embeddedFont>
    <p:embeddedFont>
      <p:font typeface="Poppins Bold" charset="1" panose="00000800000000000000"/>
      <p:regular r:id="rId20"/>
    </p:embeddedFont>
    <p:embeddedFont>
      <p:font typeface="Poppin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Enhancing Writing Accuracy: BERT-Based Grammatical Error Correction for Digital Literacy.'</a:t>
            </a:r>
          </a:p>
          <a:p>
            <a:r>
              <a:rPr lang="en-US"/>
              <a:t/>
            </a:r>
          </a:p>
          <a:p>
            <a:r>
              <a:rPr lang="en-US"/>
              <a:t>In this study, I explored how we can optimize powerful AI models to not just detect grammar mistakes, but to do so with high confidence and practical utility.</a:t>
            </a:r>
          </a:p>
          <a:p>
            <a:r>
              <a:rPr lang="en-US"/>
              <a:t/>
            </a:r>
          </a:p>
          <a:p>
            <a:r>
              <a:rPr lang="en-US"/>
              <a:t>"SDG4"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start with the problem. As students, we write a lot—reports, proposals, essays. We've all experienced the frustration of a spell-checker missing a glaring error just because the words themselves were spelled correctly.</a:t>
            </a:r>
          </a:p>
          <a:p>
            <a:r>
              <a:rPr lang="en-US"/>
              <a:t/>
            </a:r>
          </a:p>
          <a:p>
            <a:r>
              <a:rPr lang="en-US"/>
              <a:t>For example, a sentence like 'The dogs barks' often slips through because 'dogs' and 'barks' are both valid words. The error is in the context—the subject-verb agreement.</a:t>
            </a:r>
          </a:p>
          <a:p>
            <a:r>
              <a:rPr lang="en-US"/>
              <a:t/>
            </a:r>
          </a:p>
          <a:p>
            <a:r>
              <a:rPr lang="en-US"/>
              <a:t>My project is to build a system that actually 'reads' the sentence like a human does, understanding the relationship between words, not just checking a dictionary. This isn't just about getting better grades; it's about supporting SDG 4, improving quality education and digital literacy tools."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achieve this, I set four specific objectives:</a:t>
            </a:r>
          </a:p>
          <a:p>
            <a:r>
              <a:rPr lang="en-US"/>
              <a:t/>
            </a:r>
          </a:p>
          <a:p>
            <a:r>
              <a:rPr lang="en-US"/>
              <a:t>First, to fine-tune a BERT model—specifically bert-base-uncased—to classify sentences as either 'Correct' or 'Incorrect.'</a:t>
            </a:r>
          </a:p>
          <a:p>
            <a:r>
              <a:rPr lang="en-US"/>
              <a:t/>
            </a:r>
          </a:p>
          <a:p>
            <a:r>
              <a:rPr lang="en-US"/>
              <a:t>Second, to scientifically compare Grid Search versus Random Search to find the best way to train this model.</a:t>
            </a:r>
          </a:p>
          <a:p>
            <a:r>
              <a:rPr lang="en-US"/>
              <a:t/>
            </a:r>
          </a:p>
          <a:p>
            <a:r>
              <a:rPr lang="en-US"/>
              <a:t>Third, to implement a hybrid system that combines deep learning for detection with a lookup dictionary for correction.</a:t>
            </a:r>
          </a:p>
          <a:p>
            <a:r>
              <a:rPr lang="en-US"/>
              <a:t/>
            </a:r>
          </a:p>
          <a:p>
            <a:r>
              <a:rPr lang="en-US"/>
              <a:t>And finally, to create a prototype that can actually be used for educational purposes."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looked at how this technology has evolved. In the past, we relied on Rule-Based Systems. These were great for specific rules but failed when language got complex. Then came Statistical Models, which were better but still lacked deep context.</a:t>
            </a:r>
          </a:p>
          <a:p>
            <a:r>
              <a:rPr lang="en-US"/>
              <a:t/>
            </a:r>
          </a:p>
          <a:p>
            <a:r>
              <a:rPr lang="en-US"/>
              <a:t>The game-changer was the Transformer architecture, specifically BERT, introduced by Google. Unlike previous models that read left-to-right, BERT reads the entire sentence at once—bidirectionally. This is crucial for grammar because to fix a verb, you often need to see the noun that came before it and the object that comes after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the Data Strategy was key. Instead of training the model for a computationally heavy rewriting task, I restructured the Kaggle dataset into a Binary Classification problem. I labeled incorrect sentences as 0 and their correct counterparts as 1. This allowed the model to focus its power entirely on judging the grammatical status of the input. I then prepared this text using the BertTokenizer to ensure efficient processing.</a:t>
            </a:r>
          </a:p>
          <a:p>
            <a:r>
              <a:rPr lang="en-US"/>
              <a:t/>
            </a:r>
          </a:p>
          <a:p>
            <a:r>
              <a:rPr lang="en-US"/>
              <a:t>Next was the Model Architecture. I utilized the pre-trained bert-base-uncased model. I think of BERT’s deep transformer layers as the 'brain' that understands English context and grammar. On top of this, I added a simple Linear Classification Head—the decision-maker—which outputs the probability of the sentence being correct or incorrect.</a:t>
            </a:r>
          </a:p>
          <a:p>
            <a:r>
              <a:rPr lang="en-US"/>
              <a:t/>
            </a:r>
          </a:p>
          <a:p>
            <a:r>
              <a:rPr lang="en-US"/>
              <a:t>To ensure this model performed optimally, the most technical step was Hyperparameter Optimization. I needed the perfect 'recipe' for training. I compared the slow, exhaustive Grid Search with the faster, more strategic Random Search. My experiments conclusively showed that Random Search was the superior method, allowing me to find the best Learning Rate and other parameters efficiently, saving significant computational time while still achieving peak performance.</a:t>
            </a:r>
          </a:p>
          <a:p>
            <a:r>
              <a:rPr lang="en-US"/>
              <a:t/>
            </a:r>
          </a:p>
          <a:p>
            <a:r>
              <a:rPr lang="en-US"/>
              <a:t>Finally, I built the Hybrid Inference System. Since a classifier only says 'Incorrect,' I coded a two-part solution. When BERT predicts an error with high confidence, the system triggers a Lookup Dictionary derived from the training data. This ensures that for any mistake the model has learned to detect, I can provide the exact, 100% accurate correction instantly. This combines AI detection power with deterministic reliability for the fix.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Quantitative Performance. My best model, achieved through Random Search, proved highly effective. It delivered an overall Accuracy of 92.50%. Crucially, the F1-Score was 90.54%. I focused on F1 because it confirms the model achieves a strong balance—it rarely gives false alarms (high Precision) and rarely misses a true mistake (high Recall).</a:t>
            </a:r>
          </a:p>
          <a:p>
            <a:r>
              <a:rPr lang="en-US"/>
              <a:t/>
            </a:r>
          </a:p>
          <a:p>
            <a:r>
              <a:rPr lang="en-US"/>
              <a:t>Looking at the Visual Analysis, [Point to the chart on the slide] the data shows how quickly BERT learns. The validation loss dropped sharply in the first epoch and then stabilized, confirming that its pre-training allows it to grasp complex grammatical features very fast.</a:t>
            </a:r>
          </a:p>
          <a:p>
            <a:r>
              <a:rPr lang="en-US"/>
              <a:t/>
            </a:r>
          </a:p>
          <a:p>
            <a:r>
              <a:rPr lang="en-US"/>
              <a:t>Finally, the Qualitative Analysis confirms its intelligence. In my stress tests:</a:t>
            </a:r>
          </a:p>
          <a:p>
            <a:r>
              <a:rPr lang="en-US"/>
              <a:t/>
            </a:r>
          </a:p>
          <a:p>
            <a:r>
              <a:rPr lang="en-US"/>
              <a:t>For Subject-Verb Agreement, the input 'The dogs barks' was flagged Incorrect with 98.69% confidence. The model understood the plural subject and correctly suggested 'The dogs bark.'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conclusion, this project successfully demonstrated that we don't always need massive, expensive generative models like GPT-4 for every task. By fine-tuning a smaller, specialized BERT model, I achieved over 90% accuracy in grammar classification. I also validated that Random Search is a far superior optimization strategy for this scale of project compared to Grid Search.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kaggle.com/datasets/satishgunjal/grammar-correction" TargetMode="External" Type="http://schemas.openxmlformats.org/officeDocument/2006/relationships/hyperlink"/><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https://huggingface.co/docs" TargetMode="External" Type="http://schemas.openxmlformats.org/officeDocument/2006/relationships/hyperlink"/><Relationship Id="rId8" Target="https://scikit-learn.org" TargetMode="External" Type="http://schemas.openxmlformats.org/officeDocument/2006/relationships/hyperlink"/><Relationship Id="rId9" Target="https://scikit-learn.org"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0" y="4129510"/>
            <a:ext cx="18288000" cy="2142281"/>
          </a:xfrm>
          <a:prstGeom prst="rect">
            <a:avLst/>
          </a:prstGeom>
        </p:spPr>
        <p:txBody>
          <a:bodyPr anchor="t" rtlCol="false" tIns="0" lIns="0" bIns="0" rIns="0">
            <a:spAutoFit/>
          </a:bodyPr>
          <a:lstStyle/>
          <a:p>
            <a:pPr algn="ctr">
              <a:lnSpc>
                <a:spcPts val="5380"/>
              </a:lnSpc>
            </a:pPr>
            <a:r>
              <a:rPr lang="en-US" sz="5977" b="true">
                <a:solidFill>
                  <a:srgbClr val="00385D"/>
                </a:solidFill>
                <a:latin typeface="Poppins Ultra-Bold"/>
                <a:ea typeface="Poppins Ultra-Bold"/>
                <a:cs typeface="Poppins Ultra-Bold"/>
                <a:sym typeface="Poppins Ultra-Bold"/>
              </a:rPr>
              <a:t>Enhancing Writing Accuracy: BERT-Based Grammatical Error Correction for Digital Literacy</a:t>
            </a:r>
          </a:p>
        </p:txBody>
      </p:sp>
      <p:grpSp>
        <p:nvGrpSpPr>
          <p:cNvPr name="Group 4" id="4"/>
          <p:cNvGrpSpPr/>
          <p:nvPr/>
        </p:nvGrpSpPr>
        <p:grpSpPr>
          <a:xfrm rot="0">
            <a:off x="1028700" y="8845663"/>
            <a:ext cx="5744785" cy="741807"/>
            <a:chOff x="0" y="0"/>
            <a:chExt cx="7659713" cy="989076"/>
          </a:xfrm>
        </p:grpSpPr>
        <p:sp>
          <p:nvSpPr>
            <p:cNvPr name="TextBox 5" id="5"/>
            <p:cNvSpPr txBox="true"/>
            <p:nvPr/>
          </p:nvSpPr>
          <p:spPr>
            <a:xfrm rot="0">
              <a:off x="0" y="-66675"/>
              <a:ext cx="3233281" cy="588222"/>
            </a:xfrm>
            <a:prstGeom prst="rect">
              <a:avLst/>
            </a:prstGeom>
          </p:spPr>
          <p:txBody>
            <a:bodyPr anchor="t" rtlCol="false" tIns="0" lIns="0" bIns="0" rIns="0">
              <a:spAutoFit/>
            </a:bodyPr>
            <a:lstStyle/>
            <a:p>
              <a:pPr algn="l">
                <a:lnSpc>
                  <a:spcPts val="3640"/>
                </a:lnSpc>
              </a:pPr>
              <a:r>
                <a:rPr lang="en-US" sz="2600" i="true">
                  <a:solidFill>
                    <a:srgbClr val="00385D"/>
                  </a:solidFill>
                  <a:latin typeface="Poppins Italics"/>
                  <a:ea typeface="Poppins Italics"/>
                  <a:cs typeface="Poppins Italics"/>
                  <a:sym typeface="Poppins Italics"/>
                </a:rPr>
                <a:t>Presented by</a:t>
              </a:r>
            </a:p>
          </p:txBody>
        </p:sp>
        <p:sp>
          <p:nvSpPr>
            <p:cNvPr name="TextBox 6" id="6"/>
            <p:cNvSpPr txBox="true"/>
            <p:nvPr/>
          </p:nvSpPr>
          <p:spPr>
            <a:xfrm rot="0">
              <a:off x="0" y="484886"/>
              <a:ext cx="7659713" cy="504190"/>
            </a:xfrm>
            <a:prstGeom prst="rect">
              <a:avLst/>
            </a:prstGeom>
          </p:spPr>
          <p:txBody>
            <a:bodyPr anchor="t" rtlCol="false" tIns="0" lIns="0" bIns="0" rIns="0">
              <a:spAutoFit/>
            </a:bodyPr>
            <a:lstStyle/>
            <a:p>
              <a:pPr algn="l">
                <a:lnSpc>
                  <a:spcPts val="2730"/>
                </a:lnSpc>
              </a:pPr>
              <a:r>
                <a:rPr lang="en-US" sz="2600" spc="-52" b="true">
                  <a:solidFill>
                    <a:srgbClr val="00385D"/>
                  </a:solidFill>
                  <a:latin typeface="Poppins Bold"/>
                  <a:ea typeface="Poppins Bold"/>
                  <a:cs typeface="Poppins Bold"/>
                  <a:sym typeface="Poppins Bold"/>
                </a:rPr>
                <a:t>Del Castillo, Christian Joaquin</a:t>
              </a:r>
            </a:p>
          </p:txBody>
        </p:sp>
      </p:grpSp>
      <p:grpSp>
        <p:nvGrpSpPr>
          <p:cNvPr name="Group 7" id="7"/>
          <p:cNvGrpSpPr/>
          <p:nvPr/>
        </p:nvGrpSpPr>
        <p:grpSpPr>
          <a:xfrm rot="0">
            <a:off x="8606118" y="303942"/>
            <a:ext cx="6415877" cy="815667"/>
            <a:chOff x="0" y="0"/>
            <a:chExt cx="8554503" cy="1087556"/>
          </a:xfrm>
        </p:grpSpPr>
        <p:sp>
          <p:nvSpPr>
            <p:cNvPr name="TextBox 8" id="8"/>
            <p:cNvSpPr txBox="true"/>
            <p:nvPr/>
          </p:nvSpPr>
          <p:spPr>
            <a:xfrm rot="0">
              <a:off x="1434353" y="499335"/>
              <a:ext cx="7120150" cy="588222"/>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19, 2025</a:t>
              </a:r>
            </a:p>
          </p:txBody>
        </p:sp>
        <p:sp>
          <p:nvSpPr>
            <p:cNvPr name="TextBox 9" id="9"/>
            <p:cNvSpPr txBox="true"/>
            <p:nvPr/>
          </p:nvSpPr>
          <p:spPr>
            <a:xfrm rot="0">
              <a:off x="0" y="-66675"/>
              <a:ext cx="8554503" cy="588222"/>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a:t>
              </a:r>
            </a:p>
          </p:txBody>
        </p:sp>
      </p:grpSp>
      <p:sp>
        <p:nvSpPr>
          <p:cNvPr name="Freeform 10" id="10"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11" id="11"/>
          <p:cNvGrpSpPr/>
          <p:nvPr/>
        </p:nvGrpSpPr>
        <p:grpSpPr>
          <a:xfrm rot="0">
            <a:off x="1028700" y="322992"/>
            <a:ext cx="5915033" cy="1202075"/>
            <a:chOff x="0" y="0"/>
            <a:chExt cx="7886711" cy="1602766"/>
          </a:xfrm>
        </p:grpSpPr>
        <p:sp>
          <p:nvSpPr>
            <p:cNvPr name="Freeform 12" id="12"/>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5"/>
              <a:stretch>
                <a:fillRect l="0" t="0" r="0" b="0"/>
              </a:stretch>
            </a:blipFill>
          </p:spPr>
        </p:sp>
        <p:sp>
          <p:nvSpPr>
            <p:cNvPr name="Freeform 13" id="13"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6"/>
              <a:stretch>
                <a:fillRect l="-29293" t="-38537" r="-131051" b="-508562"/>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2983381"/>
            <a:ext cx="16230600" cy="5699125"/>
          </a:xfrm>
          <a:prstGeom prst="rect">
            <a:avLst/>
          </a:prstGeom>
        </p:spPr>
        <p:txBody>
          <a:bodyPr anchor="t" rtlCol="false" tIns="0" lIns="0" bIns="0" rIns="0">
            <a:spAutoFit/>
          </a:bodyPr>
          <a:lstStyle/>
          <a:p>
            <a:pPr algn="just">
              <a:lnSpc>
                <a:spcPts val="3499"/>
              </a:lnSpc>
            </a:pPr>
            <a:r>
              <a:rPr lang="en-US" sz="2499" spc="-49">
                <a:solidFill>
                  <a:srgbClr val="00385D"/>
                </a:solidFill>
                <a:latin typeface="Poppins"/>
                <a:ea typeface="Poppins"/>
                <a:cs typeface="Poppins"/>
                <a:sym typeface="Poppins"/>
              </a:rPr>
              <a:t>The Problem:</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Grammatical errors hinder effective communication.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Traditional spell-checkers miss context-depend</a:t>
            </a:r>
            <a:r>
              <a:rPr lang="en-US" sz="2499" spc="-49">
                <a:solidFill>
                  <a:srgbClr val="00385D"/>
                </a:solidFill>
                <a:latin typeface="Poppins"/>
                <a:ea typeface="Poppins"/>
                <a:cs typeface="Poppins"/>
                <a:sym typeface="Poppins"/>
              </a:rPr>
              <a:t>ent errors (e.g., "The dogs barks").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Lack of nuanced feedback for learners.</a:t>
            </a:r>
          </a:p>
          <a:p>
            <a:pPr algn="just">
              <a:lnSpc>
                <a:spcPts val="3499"/>
              </a:lnSpc>
            </a:pPr>
          </a:p>
          <a:p>
            <a:pPr algn="just">
              <a:lnSpc>
                <a:spcPts val="3499"/>
              </a:lnSpc>
            </a:pPr>
            <a:r>
              <a:rPr lang="en-US" sz="2499" spc="-49">
                <a:solidFill>
                  <a:srgbClr val="00385D"/>
                </a:solidFill>
                <a:latin typeface="Poppins"/>
                <a:ea typeface="Poppins"/>
                <a:cs typeface="Poppins"/>
                <a:sym typeface="Poppins"/>
              </a:rPr>
              <a:t>The </a:t>
            </a:r>
            <a:r>
              <a:rPr lang="en-US" sz="2499" spc="-49">
                <a:solidFill>
                  <a:srgbClr val="00385D"/>
                </a:solidFill>
                <a:latin typeface="Poppins"/>
                <a:ea typeface="Poppins"/>
                <a:cs typeface="Poppins"/>
                <a:sym typeface="Poppins"/>
              </a:rPr>
              <a:t>Motivation: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Personal frustration with existing tools.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Need for a system that understands context, not just rules.</a:t>
            </a:r>
          </a:p>
          <a:p>
            <a:pPr algn="just">
              <a:lnSpc>
                <a:spcPts val="3499"/>
              </a:lnSpc>
            </a:pPr>
          </a:p>
          <a:p>
            <a:pPr algn="just">
              <a:lnSpc>
                <a:spcPts val="3499"/>
              </a:lnSpc>
            </a:pPr>
            <a:r>
              <a:rPr lang="en-US" sz="2499" spc="-49">
                <a:solidFill>
                  <a:srgbClr val="00385D"/>
                </a:solidFill>
                <a:latin typeface="Poppins"/>
                <a:ea typeface="Poppins"/>
                <a:cs typeface="Poppins"/>
                <a:sym typeface="Poppins"/>
              </a:rPr>
              <a:t>Th</a:t>
            </a:r>
            <a:r>
              <a:rPr lang="en-US" sz="2499" spc="-49">
                <a:solidFill>
                  <a:srgbClr val="00385D"/>
                </a:solidFill>
                <a:latin typeface="Poppins"/>
                <a:ea typeface="Poppins"/>
                <a:cs typeface="Poppins"/>
                <a:sym typeface="Poppins"/>
              </a:rPr>
              <a:t>e Goal:</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Build an AI model that "reads" like a human to detect errors with high confidence.</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Sup</a:t>
            </a:r>
            <a:r>
              <a:rPr lang="en-US" sz="2499" spc="-49">
                <a:solidFill>
                  <a:srgbClr val="00385D"/>
                </a:solidFill>
                <a:latin typeface="Poppins"/>
                <a:ea typeface="Poppins"/>
                <a:cs typeface="Poppins"/>
                <a:sym typeface="Poppins"/>
              </a:rPr>
              <a:t>port SDG 4 (Quality Education) by improving digital literacy tools.</a:t>
            </a:r>
          </a:p>
          <a:p>
            <a:pPr algn="just">
              <a:lnSpc>
                <a:spcPts val="3499"/>
              </a:lnSpc>
            </a:pPr>
          </a:p>
        </p:txBody>
      </p:sp>
      <p:sp>
        <p:nvSpPr>
          <p:cNvPr name="TextBox 7" id="7"/>
          <p:cNvSpPr txBox="true"/>
          <p:nvPr/>
        </p:nvSpPr>
        <p:spPr>
          <a:xfrm rot="0">
            <a:off x="1028700" y="1239878"/>
            <a:ext cx="9686383"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Introduction</a:t>
            </a:r>
          </a:p>
        </p:txBody>
      </p:sp>
      <p:sp>
        <p:nvSpPr>
          <p:cNvPr name="TextBox 8" id="8"/>
          <p:cNvSpPr txBox="true"/>
          <p:nvPr/>
        </p:nvSpPr>
        <p:spPr>
          <a:xfrm rot="0">
            <a:off x="1028700" y="9440778"/>
            <a:ext cx="8793641" cy="405154"/>
          </a:xfrm>
          <a:prstGeom prst="rect">
            <a:avLst/>
          </a:prstGeom>
        </p:spPr>
        <p:txBody>
          <a:bodyPr anchor="t" rtlCol="false" tIns="0" lIns="0" bIns="0" rIns="0">
            <a:spAutoFit/>
          </a:bodyPr>
          <a:lstStyle/>
          <a:p>
            <a:pPr algn="l">
              <a:lnSpc>
                <a:spcPts val="3149"/>
              </a:lnSpc>
            </a:pPr>
            <a:r>
              <a:rPr lang="en-US" sz="2249" spc="-44" b="true">
                <a:solidFill>
                  <a:srgbClr val="00385D"/>
                </a:solidFill>
                <a:latin typeface="Poppins Bold"/>
                <a:ea typeface="Poppins Bold"/>
                <a:cs typeface="Poppins Bold"/>
                <a:sym typeface="Poppins Bold"/>
              </a:rPr>
              <a:t>Del  Castillo, Christian Joaquin R.</a:t>
            </a:r>
          </a:p>
        </p:txBody>
      </p:sp>
      <p:sp>
        <p:nvSpPr>
          <p:cNvPr name="Freeform 9" id="9"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10" id="10"/>
          <p:cNvGrpSpPr/>
          <p:nvPr/>
        </p:nvGrpSpPr>
        <p:grpSpPr>
          <a:xfrm rot="0">
            <a:off x="1028700" y="322992"/>
            <a:ext cx="5125998" cy="1041724"/>
            <a:chOff x="0" y="0"/>
            <a:chExt cx="6834664" cy="1388966"/>
          </a:xfrm>
        </p:grpSpPr>
        <p:sp>
          <p:nvSpPr>
            <p:cNvPr name="Freeform 11" id="11"/>
            <p:cNvSpPr/>
            <p:nvPr/>
          </p:nvSpPr>
          <p:spPr>
            <a:xfrm flipH="false" flipV="false" rot="0">
              <a:off x="0" y="0"/>
              <a:ext cx="1388966" cy="1388966"/>
            </a:xfrm>
            <a:custGeom>
              <a:avLst/>
              <a:gdLst/>
              <a:ahLst/>
              <a:cxnLst/>
              <a:rect r="r" b="b" t="t" l="l"/>
              <a:pathLst>
                <a:path h="1388966" w="1388966">
                  <a:moveTo>
                    <a:pt x="0" y="0"/>
                  </a:moveTo>
                  <a:lnTo>
                    <a:pt x="1388966" y="0"/>
                  </a:lnTo>
                  <a:lnTo>
                    <a:pt x="1388966" y="1388966"/>
                  </a:lnTo>
                  <a:lnTo>
                    <a:pt x="0" y="1388966"/>
                  </a:lnTo>
                  <a:lnTo>
                    <a:pt x="0" y="0"/>
                  </a:lnTo>
                  <a:close/>
                </a:path>
              </a:pathLst>
            </a:custGeom>
            <a:blipFill>
              <a:blip r:embed="rId5"/>
              <a:stretch>
                <a:fillRect l="0" t="0" r="0" b="0"/>
              </a:stretch>
            </a:blipFill>
          </p:spPr>
        </p:sp>
        <p:sp>
          <p:nvSpPr>
            <p:cNvPr name="Freeform 12" id="12" descr="Upscale Image"/>
            <p:cNvSpPr/>
            <p:nvPr/>
          </p:nvSpPr>
          <p:spPr>
            <a:xfrm flipH="false" flipV="false" rot="0">
              <a:off x="1493425" y="180200"/>
              <a:ext cx="5341239" cy="1208766"/>
            </a:xfrm>
            <a:custGeom>
              <a:avLst/>
              <a:gdLst/>
              <a:ahLst/>
              <a:cxnLst/>
              <a:rect r="r" b="b" t="t" l="l"/>
              <a:pathLst>
                <a:path h="1208766" w="5341239">
                  <a:moveTo>
                    <a:pt x="0" y="0"/>
                  </a:moveTo>
                  <a:lnTo>
                    <a:pt x="5341239" y="0"/>
                  </a:lnTo>
                  <a:lnTo>
                    <a:pt x="5341239" y="1208766"/>
                  </a:lnTo>
                  <a:lnTo>
                    <a:pt x="0" y="1208766"/>
                  </a:lnTo>
                  <a:lnTo>
                    <a:pt x="0" y="0"/>
                  </a:lnTo>
                  <a:close/>
                </a:path>
              </a:pathLst>
            </a:custGeom>
            <a:blipFill>
              <a:blip r:embed="rId6"/>
              <a:stretch>
                <a:fillRect l="-29293" t="-38537" r="-131051" b="-508562"/>
              </a:stretch>
            </a:blipFill>
          </p:spPr>
        </p:sp>
      </p:grpSp>
      <p:grpSp>
        <p:nvGrpSpPr>
          <p:cNvPr name="Group 13" id="13"/>
          <p:cNvGrpSpPr/>
          <p:nvPr/>
        </p:nvGrpSpPr>
        <p:grpSpPr>
          <a:xfrm rot="0">
            <a:off x="8606118" y="303942"/>
            <a:ext cx="6415877" cy="815667"/>
            <a:chOff x="0" y="0"/>
            <a:chExt cx="8554503" cy="1087556"/>
          </a:xfrm>
        </p:grpSpPr>
        <p:sp>
          <p:nvSpPr>
            <p:cNvPr name="TextBox 14" id="14"/>
            <p:cNvSpPr txBox="true"/>
            <p:nvPr/>
          </p:nvSpPr>
          <p:spPr>
            <a:xfrm rot="0">
              <a:off x="1434353" y="499335"/>
              <a:ext cx="7120150" cy="588222"/>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19, 2025</a:t>
              </a:r>
            </a:p>
          </p:txBody>
        </p:sp>
        <p:sp>
          <p:nvSpPr>
            <p:cNvPr name="TextBox 15" id="15"/>
            <p:cNvSpPr txBox="true"/>
            <p:nvPr/>
          </p:nvSpPr>
          <p:spPr>
            <a:xfrm rot="0">
              <a:off x="0" y="-66675"/>
              <a:ext cx="8554503" cy="588222"/>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3421531"/>
            <a:ext cx="16230600" cy="4822825"/>
          </a:xfrm>
          <a:prstGeom prst="rect">
            <a:avLst/>
          </a:prstGeom>
        </p:spPr>
        <p:txBody>
          <a:bodyPr anchor="t" rtlCol="false" tIns="0" lIns="0" bIns="0" rIns="0">
            <a:spAutoFit/>
          </a:bodyPr>
          <a:lstStyle/>
          <a:p>
            <a:pPr algn="just">
              <a:lnSpc>
                <a:spcPts val="3499"/>
              </a:lnSpc>
            </a:pPr>
            <a:r>
              <a:rPr lang="en-US" sz="2499" spc="-49">
                <a:solidFill>
                  <a:srgbClr val="00385D"/>
                </a:solidFill>
                <a:latin typeface="Poppins"/>
                <a:ea typeface="Poppins"/>
                <a:cs typeface="Poppins"/>
                <a:sym typeface="Poppins"/>
              </a:rPr>
              <a:t>1. Fine-tune BERT: Adapt a pre-trained bert-base-uncased model for binary grammar classification (Correct vs. Incorrect).</a:t>
            </a:r>
          </a:p>
          <a:p>
            <a:pPr algn="just">
              <a:lnSpc>
                <a:spcPts val="3499"/>
              </a:lnSpc>
            </a:pPr>
          </a:p>
          <a:p>
            <a:pPr algn="just">
              <a:lnSpc>
                <a:spcPts val="3499"/>
              </a:lnSpc>
            </a:pPr>
            <a:r>
              <a:rPr lang="en-US" sz="2499" spc="-49">
                <a:solidFill>
                  <a:srgbClr val="00385D"/>
                </a:solidFill>
                <a:latin typeface="Poppins"/>
                <a:ea typeface="Poppins"/>
                <a:cs typeface="Poppins"/>
                <a:sym typeface="Poppins"/>
              </a:rPr>
              <a:t>2. Optimize Hyperparam</a:t>
            </a:r>
            <a:r>
              <a:rPr lang="en-US" sz="2499" spc="-49">
                <a:solidFill>
                  <a:srgbClr val="00385D"/>
                </a:solidFill>
                <a:latin typeface="Poppins"/>
                <a:ea typeface="Poppins"/>
                <a:cs typeface="Poppins"/>
                <a:sym typeface="Poppins"/>
              </a:rPr>
              <a:t>eters: Compare Grid Search vs. Random Searc</a:t>
            </a:r>
            <a:r>
              <a:rPr lang="en-US" sz="2499" spc="-49">
                <a:solidFill>
                  <a:srgbClr val="00385D"/>
                </a:solidFill>
                <a:latin typeface="Poppins"/>
                <a:ea typeface="Poppins"/>
                <a:cs typeface="Poppins"/>
                <a:sym typeface="Poppins"/>
              </a:rPr>
              <a:t>h </a:t>
            </a:r>
            <a:r>
              <a:rPr lang="en-US" sz="2499" spc="-49">
                <a:solidFill>
                  <a:srgbClr val="00385D"/>
                </a:solidFill>
                <a:latin typeface="Poppins"/>
                <a:ea typeface="Poppins"/>
                <a:cs typeface="Poppins"/>
                <a:sym typeface="Poppins"/>
              </a:rPr>
              <a:t>to find the best training configuration.</a:t>
            </a:r>
          </a:p>
          <a:p>
            <a:pPr algn="just">
              <a:lnSpc>
                <a:spcPts val="3499"/>
              </a:lnSpc>
            </a:pPr>
          </a:p>
          <a:p>
            <a:pPr algn="just">
              <a:lnSpc>
                <a:spcPts val="3499"/>
              </a:lnSpc>
            </a:pPr>
            <a:r>
              <a:rPr lang="en-US" sz="2499" spc="-49">
                <a:solidFill>
                  <a:srgbClr val="00385D"/>
                </a:solidFill>
                <a:latin typeface="Poppins"/>
                <a:ea typeface="Poppins"/>
                <a:cs typeface="Poppins"/>
                <a:sym typeface="Poppins"/>
              </a:rPr>
              <a:t>3.</a:t>
            </a:r>
            <a:r>
              <a:rPr lang="en-US" sz="2499" spc="-49">
                <a:solidFill>
                  <a:srgbClr val="00385D"/>
                </a:solidFill>
                <a:latin typeface="Poppins"/>
                <a:ea typeface="Poppins"/>
                <a:cs typeface="Poppins"/>
                <a:sym typeface="Poppins"/>
              </a:rPr>
              <a:t> Implement Hybrid Inference: Combine deep learning detection with a deterministic look</a:t>
            </a:r>
            <a:r>
              <a:rPr lang="en-US" sz="2499" spc="-49">
                <a:solidFill>
                  <a:srgbClr val="00385D"/>
                </a:solidFill>
                <a:latin typeface="Poppins"/>
                <a:ea typeface="Poppins"/>
                <a:cs typeface="Poppins"/>
                <a:sym typeface="Poppins"/>
              </a:rPr>
              <a:t>up dicti</a:t>
            </a:r>
            <a:r>
              <a:rPr lang="en-US" sz="2499" spc="-49">
                <a:solidFill>
                  <a:srgbClr val="00385D"/>
                </a:solidFill>
                <a:latin typeface="Poppins"/>
                <a:ea typeface="Poppins"/>
                <a:cs typeface="Poppins"/>
                <a:sym typeface="Poppins"/>
              </a:rPr>
              <a:t>onary for accurate corrections.</a:t>
            </a:r>
          </a:p>
          <a:p>
            <a:pPr algn="just">
              <a:lnSpc>
                <a:spcPts val="3499"/>
              </a:lnSpc>
            </a:pPr>
          </a:p>
          <a:p>
            <a:pPr algn="just">
              <a:lnSpc>
                <a:spcPts val="3499"/>
              </a:lnSpc>
            </a:pPr>
            <a:r>
              <a:rPr lang="en-US" sz="2499" spc="-49">
                <a:solidFill>
                  <a:srgbClr val="00385D"/>
                </a:solidFill>
                <a:latin typeface="Poppins"/>
                <a:ea typeface="Poppins"/>
                <a:cs typeface="Poppins"/>
                <a:sym typeface="Poppins"/>
              </a:rPr>
              <a:t>4. Enhance Digital Literacy: Create a prototype for educational use.</a:t>
            </a:r>
          </a:p>
          <a:p>
            <a:pPr algn="just">
              <a:lnSpc>
                <a:spcPts val="3499"/>
              </a:lnSpc>
            </a:pPr>
          </a:p>
        </p:txBody>
      </p:sp>
      <p:sp>
        <p:nvSpPr>
          <p:cNvPr name="TextBox 7" id="7"/>
          <p:cNvSpPr txBox="true"/>
          <p:nvPr/>
        </p:nvSpPr>
        <p:spPr>
          <a:xfrm rot="0">
            <a:off x="1028700" y="1239878"/>
            <a:ext cx="9686383"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Objectives</a:t>
            </a:r>
          </a:p>
        </p:txBody>
      </p:sp>
      <p:sp>
        <p:nvSpPr>
          <p:cNvPr name="TextBox 8" id="8"/>
          <p:cNvSpPr txBox="true"/>
          <p:nvPr/>
        </p:nvSpPr>
        <p:spPr>
          <a:xfrm rot="0">
            <a:off x="1028700" y="9440778"/>
            <a:ext cx="8793641" cy="405154"/>
          </a:xfrm>
          <a:prstGeom prst="rect">
            <a:avLst/>
          </a:prstGeom>
        </p:spPr>
        <p:txBody>
          <a:bodyPr anchor="t" rtlCol="false" tIns="0" lIns="0" bIns="0" rIns="0">
            <a:spAutoFit/>
          </a:bodyPr>
          <a:lstStyle/>
          <a:p>
            <a:pPr algn="l">
              <a:lnSpc>
                <a:spcPts val="3149"/>
              </a:lnSpc>
            </a:pPr>
            <a:r>
              <a:rPr lang="en-US" sz="2249" spc="-44" b="true">
                <a:solidFill>
                  <a:srgbClr val="00385D"/>
                </a:solidFill>
                <a:latin typeface="Poppins Bold"/>
                <a:ea typeface="Poppins Bold"/>
                <a:cs typeface="Poppins Bold"/>
                <a:sym typeface="Poppins Bold"/>
              </a:rPr>
              <a:t>Del  Castillo, Christian Joaquin R.</a:t>
            </a:r>
          </a:p>
        </p:txBody>
      </p:sp>
      <p:sp>
        <p:nvSpPr>
          <p:cNvPr name="Freeform 9" id="9"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10" id="10"/>
          <p:cNvGrpSpPr/>
          <p:nvPr/>
        </p:nvGrpSpPr>
        <p:grpSpPr>
          <a:xfrm rot="0">
            <a:off x="1028700" y="322992"/>
            <a:ext cx="5125998" cy="1041724"/>
            <a:chOff x="0" y="0"/>
            <a:chExt cx="6834664" cy="1388966"/>
          </a:xfrm>
        </p:grpSpPr>
        <p:sp>
          <p:nvSpPr>
            <p:cNvPr name="Freeform 11" id="11"/>
            <p:cNvSpPr/>
            <p:nvPr/>
          </p:nvSpPr>
          <p:spPr>
            <a:xfrm flipH="false" flipV="false" rot="0">
              <a:off x="0" y="0"/>
              <a:ext cx="1388966" cy="1388966"/>
            </a:xfrm>
            <a:custGeom>
              <a:avLst/>
              <a:gdLst/>
              <a:ahLst/>
              <a:cxnLst/>
              <a:rect r="r" b="b" t="t" l="l"/>
              <a:pathLst>
                <a:path h="1388966" w="1388966">
                  <a:moveTo>
                    <a:pt x="0" y="0"/>
                  </a:moveTo>
                  <a:lnTo>
                    <a:pt x="1388966" y="0"/>
                  </a:lnTo>
                  <a:lnTo>
                    <a:pt x="1388966" y="1388966"/>
                  </a:lnTo>
                  <a:lnTo>
                    <a:pt x="0" y="1388966"/>
                  </a:lnTo>
                  <a:lnTo>
                    <a:pt x="0" y="0"/>
                  </a:lnTo>
                  <a:close/>
                </a:path>
              </a:pathLst>
            </a:custGeom>
            <a:blipFill>
              <a:blip r:embed="rId5"/>
              <a:stretch>
                <a:fillRect l="0" t="0" r="0" b="0"/>
              </a:stretch>
            </a:blipFill>
          </p:spPr>
        </p:sp>
        <p:sp>
          <p:nvSpPr>
            <p:cNvPr name="Freeform 12" id="12" descr="Upscale Image"/>
            <p:cNvSpPr/>
            <p:nvPr/>
          </p:nvSpPr>
          <p:spPr>
            <a:xfrm flipH="false" flipV="false" rot="0">
              <a:off x="1493425" y="180200"/>
              <a:ext cx="5341239" cy="1208766"/>
            </a:xfrm>
            <a:custGeom>
              <a:avLst/>
              <a:gdLst/>
              <a:ahLst/>
              <a:cxnLst/>
              <a:rect r="r" b="b" t="t" l="l"/>
              <a:pathLst>
                <a:path h="1208766" w="5341239">
                  <a:moveTo>
                    <a:pt x="0" y="0"/>
                  </a:moveTo>
                  <a:lnTo>
                    <a:pt x="5341239" y="0"/>
                  </a:lnTo>
                  <a:lnTo>
                    <a:pt x="5341239" y="1208766"/>
                  </a:lnTo>
                  <a:lnTo>
                    <a:pt x="0" y="1208766"/>
                  </a:lnTo>
                  <a:lnTo>
                    <a:pt x="0" y="0"/>
                  </a:lnTo>
                  <a:close/>
                </a:path>
              </a:pathLst>
            </a:custGeom>
            <a:blipFill>
              <a:blip r:embed="rId6"/>
              <a:stretch>
                <a:fillRect l="-29293" t="-38537" r="-131051" b="-508562"/>
              </a:stretch>
            </a:blipFill>
          </p:spPr>
        </p:sp>
      </p:grpSp>
      <p:grpSp>
        <p:nvGrpSpPr>
          <p:cNvPr name="Group 13" id="13"/>
          <p:cNvGrpSpPr/>
          <p:nvPr/>
        </p:nvGrpSpPr>
        <p:grpSpPr>
          <a:xfrm rot="0">
            <a:off x="8606118" y="303942"/>
            <a:ext cx="6415877" cy="815667"/>
            <a:chOff x="0" y="0"/>
            <a:chExt cx="8554503" cy="1087556"/>
          </a:xfrm>
        </p:grpSpPr>
        <p:sp>
          <p:nvSpPr>
            <p:cNvPr name="TextBox 14" id="14"/>
            <p:cNvSpPr txBox="true"/>
            <p:nvPr/>
          </p:nvSpPr>
          <p:spPr>
            <a:xfrm rot="0">
              <a:off x="1434353" y="499335"/>
              <a:ext cx="7120150" cy="588222"/>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19, 2025</a:t>
              </a:r>
            </a:p>
          </p:txBody>
        </p:sp>
        <p:sp>
          <p:nvSpPr>
            <p:cNvPr name="TextBox 15" id="15"/>
            <p:cNvSpPr txBox="true"/>
            <p:nvPr/>
          </p:nvSpPr>
          <p:spPr>
            <a:xfrm rot="0">
              <a:off x="0" y="-66675"/>
              <a:ext cx="8554503" cy="588222"/>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3421531"/>
            <a:ext cx="16230600" cy="4822825"/>
          </a:xfrm>
          <a:prstGeom prst="rect">
            <a:avLst/>
          </a:prstGeom>
        </p:spPr>
        <p:txBody>
          <a:bodyPr anchor="t" rtlCol="false" tIns="0" lIns="0" bIns="0" rIns="0">
            <a:spAutoFit/>
          </a:bodyPr>
          <a:lstStyle/>
          <a:p>
            <a:pPr algn="just">
              <a:lnSpc>
                <a:spcPts val="3499"/>
              </a:lnSpc>
            </a:pPr>
            <a:r>
              <a:rPr lang="en-US" sz="2499" spc="-49">
                <a:solidFill>
                  <a:srgbClr val="00385D"/>
                </a:solidFill>
                <a:latin typeface="Poppins"/>
                <a:ea typeface="Poppins"/>
                <a:cs typeface="Poppins"/>
                <a:sym typeface="Poppins"/>
              </a:rPr>
              <a:t>Evolution of GEC:</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Early Rule-Based Systems: High precision for specific erro</a:t>
            </a:r>
            <a:r>
              <a:rPr lang="en-US" sz="2499" spc="-49">
                <a:solidFill>
                  <a:srgbClr val="00385D"/>
                </a:solidFill>
                <a:latin typeface="Poppins"/>
                <a:ea typeface="Poppins"/>
                <a:cs typeface="Poppins"/>
                <a:sym typeface="Poppins"/>
              </a:rPr>
              <a:t>rs, but poor generalization.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Statistical Models: (Rahman</a:t>
            </a:r>
            <a:r>
              <a:rPr lang="en-US" sz="2499" spc="-49">
                <a:solidFill>
                  <a:srgbClr val="00385D"/>
                </a:solidFill>
                <a:latin typeface="Poppins"/>
                <a:ea typeface="Poppins"/>
                <a:cs typeface="Poppins"/>
                <a:sym typeface="Poppins"/>
              </a:rPr>
              <a:t> e</a:t>
            </a:r>
            <a:r>
              <a:rPr lang="en-US" sz="2499" spc="-49">
                <a:solidFill>
                  <a:srgbClr val="00385D"/>
                </a:solidFill>
                <a:latin typeface="Poppins"/>
                <a:ea typeface="Poppins"/>
                <a:cs typeface="Poppins"/>
                <a:sym typeface="Poppins"/>
              </a:rPr>
              <a:t>t al.) Effective but lacked deep context.</a:t>
            </a:r>
          </a:p>
          <a:p>
            <a:pPr algn="just">
              <a:lnSpc>
                <a:spcPts val="3499"/>
              </a:lnSpc>
            </a:pPr>
          </a:p>
          <a:p>
            <a:pPr algn="just">
              <a:lnSpc>
                <a:spcPts val="3499"/>
              </a:lnSpc>
            </a:pPr>
            <a:r>
              <a:rPr lang="en-US" sz="2499" spc="-49">
                <a:solidFill>
                  <a:srgbClr val="00385D"/>
                </a:solidFill>
                <a:latin typeface="Poppins"/>
                <a:ea typeface="Poppins"/>
                <a:cs typeface="Poppins"/>
                <a:sym typeface="Poppins"/>
              </a:rPr>
              <a:t>The Transformer Shift:</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Transformers (Vaswani et al.): Revolutionized NLP.</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BERT (Devlin et al.): Bidirectional context understanding is cr</a:t>
            </a:r>
            <a:r>
              <a:rPr lang="en-US" sz="2499" spc="-49">
                <a:solidFill>
                  <a:srgbClr val="00385D"/>
                </a:solidFill>
                <a:latin typeface="Poppins"/>
                <a:ea typeface="Poppins"/>
                <a:cs typeface="Poppins"/>
                <a:sym typeface="Poppins"/>
              </a:rPr>
              <a:t>uci</a:t>
            </a:r>
            <a:r>
              <a:rPr lang="en-US" sz="2499" spc="-49">
                <a:solidFill>
                  <a:srgbClr val="00385D"/>
                </a:solidFill>
                <a:latin typeface="Poppins"/>
                <a:ea typeface="Poppins"/>
                <a:cs typeface="Poppins"/>
                <a:sym typeface="Poppins"/>
              </a:rPr>
              <a:t>al for grammar (e.g., subject-verb agreement).</a:t>
            </a:r>
          </a:p>
          <a:p>
            <a:pPr algn="just">
              <a:lnSpc>
                <a:spcPts val="3499"/>
              </a:lnSpc>
            </a:pPr>
          </a:p>
          <a:p>
            <a:pPr algn="just">
              <a:lnSpc>
                <a:spcPts val="3499"/>
              </a:lnSpc>
            </a:pPr>
            <a:r>
              <a:rPr lang="en-US" sz="2499" spc="-49">
                <a:solidFill>
                  <a:srgbClr val="00385D"/>
                </a:solidFill>
                <a:latin typeface="Poppins"/>
                <a:ea typeface="Poppins"/>
                <a:cs typeface="Poppins"/>
                <a:sym typeface="Poppins"/>
              </a:rPr>
              <a:t>AI in Education: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Sangkala: AI as a personalized pedagogical tool, not just automation.</a:t>
            </a:r>
          </a:p>
        </p:txBody>
      </p:sp>
      <p:sp>
        <p:nvSpPr>
          <p:cNvPr name="TextBox 7" id="7"/>
          <p:cNvSpPr txBox="true"/>
          <p:nvPr/>
        </p:nvSpPr>
        <p:spPr>
          <a:xfrm rot="0">
            <a:off x="1028700" y="1239878"/>
            <a:ext cx="9686383"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 Related Works</a:t>
            </a:r>
          </a:p>
        </p:txBody>
      </p:sp>
      <p:sp>
        <p:nvSpPr>
          <p:cNvPr name="TextBox 8" id="8"/>
          <p:cNvSpPr txBox="true"/>
          <p:nvPr/>
        </p:nvSpPr>
        <p:spPr>
          <a:xfrm rot="0">
            <a:off x="1028700" y="9440778"/>
            <a:ext cx="8793641" cy="405154"/>
          </a:xfrm>
          <a:prstGeom prst="rect">
            <a:avLst/>
          </a:prstGeom>
        </p:spPr>
        <p:txBody>
          <a:bodyPr anchor="t" rtlCol="false" tIns="0" lIns="0" bIns="0" rIns="0">
            <a:spAutoFit/>
          </a:bodyPr>
          <a:lstStyle/>
          <a:p>
            <a:pPr algn="l">
              <a:lnSpc>
                <a:spcPts val="3149"/>
              </a:lnSpc>
            </a:pPr>
            <a:r>
              <a:rPr lang="en-US" sz="2249" spc="-44" b="true">
                <a:solidFill>
                  <a:srgbClr val="00385D"/>
                </a:solidFill>
                <a:latin typeface="Poppins Bold"/>
                <a:ea typeface="Poppins Bold"/>
                <a:cs typeface="Poppins Bold"/>
                <a:sym typeface="Poppins Bold"/>
              </a:rPr>
              <a:t>Del  Castillo, Christian Joaquin R.</a:t>
            </a:r>
          </a:p>
        </p:txBody>
      </p:sp>
      <p:sp>
        <p:nvSpPr>
          <p:cNvPr name="Freeform 9" id="9"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10" id="10"/>
          <p:cNvGrpSpPr/>
          <p:nvPr/>
        </p:nvGrpSpPr>
        <p:grpSpPr>
          <a:xfrm rot="0">
            <a:off x="1028700" y="322992"/>
            <a:ext cx="5125998" cy="1041724"/>
            <a:chOff x="0" y="0"/>
            <a:chExt cx="6834664" cy="1388966"/>
          </a:xfrm>
        </p:grpSpPr>
        <p:sp>
          <p:nvSpPr>
            <p:cNvPr name="Freeform 11" id="11"/>
            <p:cNvSpPr/>
            <p:nvPr/>
          </p:nvSpPr>
          <p:spPr>
            <a:xfrm flipH="false" flipV="false" rot="0">
              <a:off x="0" y="0"/>
              <a:ext cx="1388966" cy="1388966"/>
            </a:xfrm>
            <a:custGeom>
              <a:avLst/>
              <a:gdLst/>
              <a:ahLst/>
              <a:cxnLst/>
              <a:rect r="r" b="b" t="t" l="l"/>
              <a:pathLst>
                <a:path h="1388966" w="1388966">
                  <a:moveTo>
                    <a:pt x="0" y="0"/>
                  </a:moveTo>
                  <a:lnTo>
                    <a:pt x="1388966" y="0"/>
                  </a:lnTo>
                  <a:lnTo>
                    <a:pt x="1388966" y="1388966"/>
                  </a:lnTo>
                  <a:lnTo>
                    <a:pt x="0" y="1388966"/>
                  </a:lnTo>
                  <a:lnTo>
                    <a:pt x="0" y="0"/>
                  </a:lnTo>
                  <a:close/>
                </a:path>
              </a:pathLst>
            </a:custGeom>
            <a:blipFill>
              <a:blip r:embed="rId5"/>
              <a:stretch>
                <a:fillRect l="0" t="0" r="0" b="0"/>
              </a:stretch>
            </a:blipFill>
          </p:spPr>
        </p:sp>
        <p:sp>
          <p:nvSpPr>
            <p:cNvPr name="Freeform 12" id="12" descr="Upscale Image"/>
            <p:cNvSpPr/>
            <p:nvPr/>
          </p:nvSpPr>
          <p:spPr>
            <a:xfrm flipH="false" flipV="false" rot="0">
              <a:off x="1493425" y="180200"/>
              <a:ext cx="5341239" cy="1208766"/>
            </a:xfrm>
            <a:custGeom>
              <a:avLst/>
              <a:gdLst/>
              <a:ahLst/>
              <a:cxnLst/>
              <a:rect r="r" b="b" t="t" l="l"/>
              <a:pathLst>
                <a:path h="1208766" w="5341239">
                  <a:moveTo>
                    <a:pt x="0" y="0"/>
                  </a:moveTo>
                  <a:lnTo>
                    <a:pt x="5341239" y="0"/>
                  </a:lnTo>
                  <a:lnTo>
                    <a:pt x="5341239" y="1208766"/>
                  </a:lnTo>
                  <a:lnTo>
                    <a:pt x="0" y="1208766"/>
                  </a:lnTo>
                  <a:lnTo>
                    <a:pt x="0" y="0"/>
                  </a:lnTo>
                  <a:close/>
                </a:path>
              </a:pathLst>
            </a:custGeom>
            <a:blipFill>
              <a:blip r:embed="rId6"/>
              <a:stretch>
                <a:fillRect l="-29293" t="-38537" r="-131051" b="-508562"/>
              </a:stretch>
            </a:blipFill>
          </p:spPr>
        </p:sp>
      </p:grpSp>
      <p:grpSp>
        <p:nvGrpSpPr>
          <p:cNvPr name="Group 13" id="13"/>
          <p:cNvGrpSpPr/>
          <p:nvPr/>
        </p:nvGrpSpPr>
        <p:grpSpPr>
          <a:xfrm rot="0">
            <a:off x="8606118" y="303942"/>
            <a:ext cx="6415877" cy="815667"/>
            <a:chOff x="0" y="0"/>
            <a:chExt cx="8554503" cy="1087556"/>
          </a:xfrm>
        </p:grpSpPr>
        <p:sp>
          <p:nvSpPr>
            <p:cNvPr name="TextBox 14" id="14"/>
            <p:cNvSpPr txBox="true"/>
            <p:nvPr/>
          </p:nvSpPr>
          <p:spPr>
            <a:xfrm rot="0">
              <a:off x="1434353" y="499335"/>
              <a:ext cx="7120150" cy="588222"/>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19, 2025</a:t>
              </a:r>
            </a:p>
          </p:txBody>
        </p:sp>
        <p:sp>
          <p:nvSpPr>
            <p:cNvPr name="TextBox 15" id="15"/>
            <p:cNvSpPr txBox="true"/>
            <p:nvPr/>
          </p:nvSpPr>
          <p:spPr>
            <a:xfrm rot="0">
              <a:off x="0" y="-66675"/>
              <a:ext cx="8554503" cy="588222"/>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1239878"/>
            <a:ext cx="9686383"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Methodology</a:t>
            </a:r>
          </a:p>
        </p:txBody>
      </p:sp>
      <p:sp>
        <p:nvSpPr>
          <p:cNvPr name="TextBox 7" id="7"/>
          <p:cNvSpPr txBox="true"/>
          <p:nvPr/>
        </p:nvSpPr>
        <p:spPr>
          <a:xfrm rot="0">
            <a:off x="1028700" y="9440778"/>
            <a:ext cx="8793641" cy="405154"/>
          </a:xfrm>
          <a:prstGeom prst="rect">
            <a:avLst/>
          </a:prstGeom>
        </p:spPr>
        <p:txBody>
          <a:bodyPr anchor="t" rtlCol="false" tIns="0" lIns="0" bIns="0" rIns="0">
            <a:spAutoFit/>
          </a:bodyPr>
          <a:lstStyle/>
          <a:p>
            <a:pPr algn="l">
              <a:lnSpc>
                <a:spcPts val="3149"/>
              </a:lnSpc>
            </a:pPr>
            <a:r>
              <a:rPr lang="en-US" sz="2249" spc="-44" b="true">
                <a:solidFill>
                  <a:srgbClr val="00385D"/>
                </a:solidFill>
                <a:latin typeface="Poppins Bold"/>
                <a:ea typeface="Poppins Bold"/>
                <a:cs typeface="Poppins Bold"/>
                <a:sym typeface="Poppins Bold"/>
              </a:rPr>
              <a:t>Del  Castillo, Christian Joaquin R.</a:t>
            </a:r>
          </a:p>
        </p:txBody>
      </p:sp>
      <p:sp>
        <p:nvSpPr>
          <p:cNvPr name="Freeform 8" id="8"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9" id="9"/>
          <p:cNvGrpSpPr/>
          <p:nvPr/>
        </p:nvGrpSpPr>
        <p:grpSpPr>
          <a:xfrm rot="0">
            <a:off x="1028700" y="322992"/>
            <a:ext cx="5125998" cy="1041724"/>
            <a:chOff x="0" y="0"/>
            <a:chExt cx="6834664" cy="1388966"/>
          </a:xfrm>
        </p:grpSpPr>
        <p:sp>
          <p:nvSpPr>
            <p:cNvPr name="Freeform 10" id="10"/>
            <p:cNvSpPr/>
            <p:nvPr/>
          </p:nvSpPr>
          <p:spPr>
            <a:xfrm flipH="false" flipV="false" rot="0">
              <a:off x="0" y="0"/>
              <a:ext cx="1388966" cy="1388966"/>
            </a:xfrm>
            <a:custGeom>
              <a:avLst/>
              <a:gdLst/>
              <a:ahLst/>
              <a:cxnLst/>
              <a:rect r="r" b="b" t="t" l="l"/>
              <a:pathLst>
                <a:path h="1388966" w="1388966">
                  <a:moveTo>
                    <a:pt x="0" y="0"/>
                  </a:moveTo>
                  <a:lnTo>
                    <a:pt x="1388966" y="0"/>
                  </a:lnTo>
                  <a:lnTo>
                    <a:pt x="1388966" y="1388966"/>
                  </a:lnTo>
                  <a:lnTo>
                    <a:pt x="0" y="1388966"/>
                  </a:lnTo>
                  <a:lnTo>
                    <a:pt x="0" y="0"/>
                  </a:lnTo>
                  <a:close/>
                </a:path>
              </a:pathLst>
            </a:custGeom>
            <a:blipFill>
              <a:blip r:embed="rId5"/>
              <a:stretch>
                <a:fillRect l="0" t="0" r="0" b="0"/>
              </a:stretch>
            </a:blipFill>
          </p:spPr>
        </p:sp>
        <p:sp>
          <p:nvSpPr>
            <p:cNvPr name="Freeform 11" id="11" descr="Upscale Image"/>
            <p:cNvSpPr/>
            <p:nvPr/>
          </p:nvSpPr>
          <p:spPr>
            <a:xfrm flipH="false" flipV="false" rot="0">
              <a:off x="1493425" y="180200"/>
              <a:ext cx="5341239" cy="1208766"/>
            </a:xfrm>
            <a:custGeom>
              <a:avLst/>
              <a:gdLst/>
              <a:ahLst/>
              <a:cxnLst/>
              <a:rect r="r" b="b" t="t" l="l"/>
              <a:pathLst>
                <a:path h="1208766" w="5341239">
                  <a:moveTo>
                    <a:pt x="0" y="0"/>
                  </a:moveTo>
                  <a:lnTo>
                    <a:pt x="5341239" y="0"/>
                  </a:lnTo>
                  <a:lnTo>
                    <a:pt x="5341239" y="1208766"/>
                  </a:lnTo>
                  <a:lnTo>
                    <a:pt x="0" y="1208766"/>
                  </a:lnTo>
                  <a:lnTo>
                    <a:pt x="0" y="0"/>
                  </a:lnTo>
                  <a:close/>
                </a:path>
              </a:pathLst>
            </a:custGeom>
            <a:blipFill>
              <a:blip r:embed="rId6"/>
              <a:stretch>
                <a:fillRect l="-29293" t="-38537" r="-131051" b="-508562"/>
              </a:stretch>
            </a:blipFill>
          </p:spPr>
        </p:sp>
      </p:grpSp>
      <p:grpSp>
        <p:nvGrpSpPr>
          <p:cNvPr name="Group 12" id="12"/>
          <p:cNvGrpSpPr/>
          <p:nvPr/>
        </p:nvGrpSpPr>
        <p:grpSpPr>
          <a:xfrm rot="0">
            <a:off x="8606118" y="303942"/>
            <a:ext cx="6415877" cy="815667"/>
            <a:chOff x="0" y="0"/>
            <a:chExt cx="8554503" cy="1087556"/>
          </a:xfrm>
        </p:grpSpPr>
        <p:sp>
          <p:nvSpPr>
            <p:cNvPr name="TextBox 13" id="13"/>
            <p:cNvSpPr txBox="true"/>
            <p:nvPr/>
          </p:nvSpPr>
          <p:spPr>
            <a:xfrm rot="0">
              <a:off x="1434353" y="499335"/>
              <a:ext cx="7120150" cy="588222"/>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19, 2025</a:t>
              </a:r>
            </a:p>
          </p:txBody>
        </p:sp>
        <p:sp>
          <p:nvSpPr>
            <p:cNvPr name="TextBox 14" id="14"/>
            <p:cNvSpPr txBox="true"/>
            <p:nvPr/>
          </p:nvSpPr>
          <p:spPr>
            <a:xfrm rot="0">
              <a:off x="0" y="-66675"/>
              <a:ext cx="8554503" cy="588222"/>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a:t>
              </a:r>
            </a:p>
          </p:txBody>
        </p:sp>
      </p:grpSp>
      <p:sp>
        <p:nvSpPr>
          <p:cNvPr name="TextBox 15" id="15"/>
          <p:cNvSpPr txBox="true"/>
          <p:nvPr/>
        </p:nvSpPr>
        <p:spPr>
          <a:xfrm rot="0">
            <a:off x="1028700" y="2326156"/>
            <a:ext cx="16230600" cy="7013575"/>
          </a:xfrm>
          <a:prstGeom prst="rect">
            <a:avLst/>
          </a:prstGeom>
        </p:spPr>
        <p:txBody>
          <a:bodyPr anchor="t" rtlCol="false" tIns="0" lIns="0" bIns="0" rIns="0">
            <a:spAutoFit/>
          </a:bodyPr>
          <a:lstStyle/>
          <a:p>
            <a:pPr algn="just">
              <a:lnSpc>
                <a:spcPts val="3499"/>
              </a:lnSpc>
            </a:pPr>
            <a:r>
              <a:rPr lang="en-US" sz="2499" spc="-49">
                <a:solidFill>
                  <a:srgbClr val="00385D"/>
                </a:solidFill>
                <a:latin typeface="Poppins"/>
                <a:ea typeface="Poppins"/>
                <a:cs typeface="Poppins"/>
                <a:sym typeface="Poppins"/>
              </a:rPr>
              <a:t>1. Data </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Source: Grammar Correction Dataset (Kaggle).</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Transformation: Restructured from text-generation to Binary Classification.</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Cl</a:t>
            </a:r>
            <a:r>
              <a:rPr lang="en-US" sz="2499" spc="-49">
                <a:solidFill>
                  <a:srgbClr val="00385D"/>
                </a:solidFill>
                <a:latin typeface="Poppins"/>
                <a:ea typeface="Poppins"/>
                <a:cs typeface="Poppins"/>
                <a:sym typeface="Poppins"/>
              </a:rPr>
              <a:t>ass 0: Incorrect Sentences.</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Class 1: Correct Sentences.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Result: A perfectly balanced dataset for unbiased training.</a:t>
            </a:r>
          </a:p>
          <a:p>
            <a:pPr algn="just">
              <a:lnSpc>
                <a:spcPts val="3499"/>
              </a:lnSpc>
            </a:pPr>
            <a:r>
              <a:rPr lang="en-US" sz="2499" spc="-49">
                <a:solidFill>
                  <a:srgbClr val="00385D"/>
                </a:solidFill>
                <a:latin typeface="Poppins"/>
                <a:ea typeface="Poppins"/>
                <a:cs typeface="Poppins"/>
                <a:sym typeface="Poppins"/>
              </a:rPr>
              <a:t>2. Mod</a:t>
            </a:r>
            <a:r>
              <a:rPr lang="en-US" sz="2499" spc="-49">
                <a:solidFill>
                  <a:srgbClr val="00385D"/>
                </a:solidFill>
                <a:latin typeface="Poppins"/>
                <a:ea typeface="Poppins"/>
                <a:cs typeface="Poppins"/>
                <a:sym typeface="Poppins"/>
              </a:rPr>
              <a:t>el Architecture</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Base: bert-base-uncased (Pre-trained Transformer).</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Function: Outputs probability scores for "Correct" vs. "Incorrect".</a:t>
            </a:r>
          </a:p>
          <a:p>
            <a:pPr algn="just">
              <a:lnSpc>
                <a:spcPts val="3499"/>
              </a:lnSpc>
            </a:pPr>
            <a:r>
              <a:rPr lang="en-US" sz="2499" spc="-49">
                <a:solidFill>
                  <a:srgbClr val="00385D"/>
                </a:solidFill>
                <a:latin typeface="Poppins"/>
                <a:ea typeface="Poppins"/>
                <a:cs typeface="Poppins"/>
                <a:sym typeface="Poppins"/>
              </a:rPr>
              <a:t>3. Hyperparameter Optimization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Objective: Tune Learning Rate, Batch Size, and Epochs.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Experiment: Compared Grid Search (Exhaustive) vs. Random Search (Stochastic).</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Outcome: Random Search proved superior in efficiency for this </a:t>
            </a:r>
            <a:r>
              <a:rPr lang="en-US" sz="2499" spc="-49">
                <a:solidFill>
                  <a:srgbClr val="00385D"/>
                </a:solidFill>
                <a:latin typeface="Poppins"/>
                <a:ea typeface="Poppins"/>
                <a:cs typeface="Poppins"/>
                <a:sym typeface="Poppins"/>
              </a:rPr>
              <a:t>resource-constra</a:t>
            </a:r>
            <a:r>
              <a:rPr lang="en-US" sz="2499" spc="-49">
                <a:solidFill>
                  <a:srgbClr val="00385D"/>
                </a:solidFill>
                <a:latin typeface="Poppins"/>
                <a:ea typeface="Poppins"/>
                <a:cs typeface="Poppins"/>
                <a:sym typeface="Poppins"/>
              </a:rPr>
              <a:t>ined environment.</a:t>
            </a:r>
          </a:p>
          <a:p>
            <a:pPr algn="just">
              <a:lnSpc>
                <a:spcPts val="3499"/>
              </a:lnSpc>
            </a:pPr>
            <a:r>
              <a:rPr lang="en-US" sz="2499" spc="-49">
                <a:solidFill>
                  <a:srgbClr val="00385D"/>
                </a:solidFill>
                <a:latin typeface="Poppins"/>
                <a:ea typeface="Poppins"/>
                <a:cs typeface="Poppins"/>
                <a:sym typeface="Poppins"/>
              </a:rPr>
              <a:t>4. Hybrid Inference Logic</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Detection: BERT predicts the label.</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Corr</a:t>
            </a:r>
            <a:r>
              <a:rPr lang="en-US" sz="2499" spc="-49">
                <a:solidFill>
                  <a:srgbClr val="00385D"/>
                </a:solidFill>
                <a:latin typeface="Poppins"/>
                <a:ea typeface="Poppins"/>
                <a:cs typeface="Poppins"/>
                <a:sym typeface="Poppins"/>
              </a:rPr>
              <a:t>ection: If labeled "Incorrect," a Lookup Dictionary retrieves the ground-truth correction.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1239878"/>
            <a:ext cx="9686383"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Results</a:t>
            </a:r>
          </a:p>
        </p:txBody>
      </p:sp>
      <p:sp>
        <p:nvSpPr>
          <p:cNvPr name="TextBox 7" id="7"/>
          <p:cNvSpPr txBox="true"/>
          <p:nvPr/>
        </p:nvSpPr>
        <p:spPr>
          <a:xfrm rot="0">
            <a:off x="1028700" y="9440778"/>
            <a:ext cx="8793641" cy="405154"/>
          </a:xfrm>
          <a:prstGeom prst="rect">
            <a:avLst/>
          </a:prstGeom>
        </p:spPr>
        <p:txBody>
          <a:bodyPr anchor="t" rtlCol="false" tIns="0" lIns="0" bIns="0" rIns="0">
            <a:spAutoFit/>
          </a:bodyPr>
          <a:lstStyle/>
          <a:p>
            <a:pPr algn="l">
              <a:lnSpc>
                <a:spcPts val="3149"/>
              </a:lnSpc>
            </a:pPr>
            <a:r>
              <a:rPr lang="en-US" sz="2249" spc="-44" b="true">
                <a:solidFill>
                  <a:srgbClr val="00385D"/>
                </a:solidFill>
                <a:latin typeface="Poppins Bold"/>
                <a:ea typeface="Poppins Bold"/>
                <a:cs typeface="Poppins Bold"/>
                <a:sym typeface="Poppins Bold"/>
              </a:rPr>
              <a:t>Del  Castillo, Christian Joaquin R.</a:t>
            </a:r>
          </a:p>
        </p:txBody>
      </p:sp>
      <p:sp>
        <p:nvSpPr>
          <p:cNvPr name="Freeform 8" id="8"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9" id="9"/>
          <p:cNvGrpSpPr/>
          <p:nvPr/>
        </p:nvGrpSpPr>
        <p:grpSpPr>
          <a:xfrm rot="0">
            <a:off x="1028700" y="322992"/>
            <a:ext cx="5125998" cy="1041724"/>
            <a:chOff x="0" y="0"/>
            <a:chExt cx="6834664" cy="1388966"/>
          </a:xfrm>
        </p:grpSpPr>
        <p:sp>
          <p:nvSpPr>
            <p:cNvPr name="Freeform 10" id="10"/>
            <p:cNvSpPr/>
            <p:nvPr/>
          </p:nvSpPr>
          <p:spPr>
            <a:xfrm flipH="false" flipV="false" rot="0">
              <a:off x="0" y="0"/>
              <a:ext cx="1388966" cy="1388966"/>
            </a:xfrm>
            <a:custGeom>
              <a:avLst/>
              <a:gdLst/>
              <a:ahLst/>
              <a:cxnLst/>
              <a:rect r="r" b="b" t="t" l="l"/>
              <a:pathLst>
                <a:path h="1388966" w="1388966">
                  <a:moveTo>
                    <a:pt x="0" y="0"/>
                  </a:moveTo>
                  <a:lnTo>
                    <a:pt x="1388966" y="0"/>
                  </a:lnTo>
                  <a:lnTo>
                    <a:pt x="1388966" y="1388966"/>
                  </a:lnTo>
                  <a:lnTo>
                    <a:pt x="0" y="1388966"/>
                  </a:lnTo>
                  <a:lnTo>
                    <a:pt x="0" y="0"/>
                  </a:lnTo>
                  <a:close/>
                </a:path>
              </a:pathLst>
            </a:custGeom>
            <a:blipFill>
              <a:blip r:embed="rId5"/>
              <a:stretch>
                <a:fillRect l="0" t="0" r="0" b="0"/>
              </a:stretch>
            </a:blipFill>
          </p:spPr>
        </p:sp>
        <p:sp>
          <p:nvSpPr>
            <p:cNvPr name="Freeform 11" id="11" descr="Upscale Image"/>
            <p:cNvSpPr/>
            <p:nvPr/>
          </p:nvSpPr>
          <p:spPr>
            <a:xfrm flipH="false" flipV="false" rot="0">
              <a:off x="1493425" y="180200"/>
              <a:ext cx="5341239" cy="1208766"/>
            </a:xfrm>
            <a:custGeom>
              <a:avLst/>
              <a:gdLst/>
              <a:ahLst/>
              <a:cxnLst/>
              <a:rect r="r" b="b" t="t" l="l"/>
              <a:pathLst>
                <a:path h="1208766" w="5341239">
                  <a:moveTo>
                    <a:pt x="0" y="0"/>
                  </a:moveTo>
                  <a:lnTo>
                    <a:pt x="5341239" y="0"/>
                  </a:lnTo>
                  <a:lnTo>
                    <a:pt x="5341239" y="1208766"/>
                  </a:lnTo>
                  <a:lnTo>
                    <a:pt x="0" y="1208766"/>
                  </a:lnTo>
                  <a:lnTo>
                    <a:pt x="0" y="0"/>
                  </a:lnTo>
                  <a:close/>
                </a:path>
              </a:pathLst>
            </a:custGeom>
            <a:blipFill>
              <a:blip r:embed="rId6"/>
              <a:stretch>
                <a:fillRect l="-29293" t="-38537" r="-131051" b="-508562"/>
              </a:stretch>
            </a:blipFill>
          </p:spPr>
        </p:sp>
      </p:grpSp>
      <p:grpSp>
        <p:nvGrpSpPr>
          <p:cNvPr name="Group 12" id="12"/>
          <p:cNvGrpSpPr/>
          <p:nvPr/>
        </p:nvGrpSpPr>
        <p:grpSpPr>
          <a:xfrm rot="0">
            <a:off x="8606118" y="303942"/>
            <a:ext cx="6415877" cy="815667"/>
            <a:chOff x="0" y="0"/>
            <a:chExt cx="8554503" cy="1087556"/>
          </a:xfrm>
        </p:grpSpPr>
        <p:sp>
          <p:nvSpPr>
            <p:cNvPr name="TextBox 13" id="13"/>
            <p:cNvSpPr txBox="true"/>
            <p:nvPr/>
          </p:nvSpPr>
          <p:spPr>
            <a:xfrm rot="0">
              <a:off x="1434353" y="499335"/>
              <a:ext cx="7120150" cy="588222"/>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19, 2025</a:t>
              </a:r>
            </a:p>
          </p:txBody>
        </p:sp>
        <p:sp>
          <p:nvSpPr>
            <p:cNvPr name="TextBox 14" id="14"/>
            <p:cNvSpPr txBox="true"/>
            <p:nvPr/>
          </p:nvSpPr>
          <p:spPr>
            <a:xfrm rot="0">
              <a:off x="0" y="-66675"/>
              <a:ext cx="8554503" cy="588222"/>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a:t>
              </a:r>
            </a:p>
          </p:txBody>
        </p:sp>
      </p:grpSp>
      <p:sp>
        <p:nvSpPr>
          <p:cNvPr name="TextBox 15" id="15"/>
          <p:cNvSpPr txBox="true"/>
          <p:nvPr/>
        </p:nvSpPr>
        <p:spPr>
          <a:xfrm rot="0">
            <a:off x="1028700" y="2326156"/>
            <a:ext cx="16230600" cy="7013575"/>
          </a:xfrm>
          <a:prstGeom prst="rect">
            <a:avLst/>
          </a:prstGeom>
        </p:spPr>
        <p:txBody>
          <a:bodyPr anchor="t" rtlCol="false" tIns="0" lIns="0" bIns="0" rIns="0">
            <a:spAutoFit/>
          </a:bodyPr>
          <a:lstStyle/>
          <a:p>
            <a:pPr algn="just">
              <a:lnSpc>
                <a:spcPts val="3499"/>
              </a:lnSpc>
            </a:pPr>
            <a:r>
              <a:rPr lang="en-US" sz="2499" spc="-49">
                <a:solidFill>
                  <a:srgbClr val="00385D"/>
                </a:solidFill>
                <a:latin typeface="Poppins"/>
                <a:ea typeface="Poppins"/>
                <a:cs typeface="Poppins"/>
                <a:sym typeface="Poppins"/>
              </a:rPr>
              <a:t>1. Quantitative Pe</a:t>
            </a:r>
            <a:r>
              <a:rPr lang="en-US" sz="2499" spc="-49">
                <a:solidFill>
                  <a:srgbClr val="00385D"/>
                </a:solidFill>
                <a:latin typeface="Poppins"/>
                <a:ea typeface="Poppins"/>
                <a:cs typeface="Poppins"/>
                <a:sym typeface="Poppins"/>
              </a:rPr>
              <a:t>rformance</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Best Strategy: Random Search (Lower cost, high yield).</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Accur</a:t>
            </a:r>
            <a:r>
              <a:rPr lang="en-US" sz="2499" spc="-49">
                <a:solidFill>
                  <a:srgbClr val="00385D"/>
                </a:solidFill>
                <a:latin typeface="Poppins"/>
                <a:ea typeface="Poppins"/>
                <a:cs typeface="Poppins"/>
                <a:sym typeface="Poppins"/>
              </a:rPr>
              <a:t>acy: 92.50% – Correctly identified sentence state &gt;90% of the time.</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F1-Scor</a:t>
            </a:r>
            <a:r>
              <a:rPr lang="en-US" sz="2499" spc="-49">
                <a:solidFill>
                  <a:srgbClr val="00385D"/>
                </a:solidFill>
                <a:latin typeface="Poppins"/>
                <a:ea typeface="Poppins"/>
                <a:cs typeface="Poppins"/>
                <a:sym typeface="Poppins"/>
              </a:rPr>
              <a:t>e: 90.54% – Excellent balance between Precision and Recall.</a:t>
            </a:r>
          </a:p>
          <a:p>
            <a:pPr algn="just">
              <a:lnSpc>
                <a:spcPts val="3499"/>
              </a:lnSpc>
            </a:pPr>
            <a:r>
              <a:rPr lang="en-US" sz="2499" spc="-49">
                <a:solidFill>
                  <a:srgbClr val="00385D"/>
                </a:solidFill>
                <a:latin typeface="Poppins"/>
                <a:ea typeface="Poppins"/>
                <a:cs typeface="Poppins"/>
                <a:sym typeface="Poppins"/>
              </a:rPr>
              <a:t>2. Qua</a:t>
            </a:r>
            <a:r>
              <a:rPr lang="en-US" sz="2499" spc="-49">
                <a:solidFill>
                  <a:srgbClr val="00385D"/>
                </a:solidFill>
                <a:latin typeface="Poppins"/>
                <a:ea typeface="Poppins"/>
                <a:cs typeface="Poppins"/>
                <a:sym typeface="Poppins"/>
              </a:rPr>
              <a:t>litative Analysis (Test Cases)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Subject-Verb Agreement:</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Input: "The dogs barks..."</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Predi</a:t>
            </a:r>
            <a:r>
              <a:rPr lang="en-US" sz="2499" spc="-49">
                <a:solidFill>
                  <a:srgbClr val="00385D"/>
                </a:solidFill>
                <a:latin typeface="Poppins"/>
                <a:ea typeface="Poppins"/>
                <a:cs typeface="Poppins"/>
                <a:sym typeface="Poppins"/>
              </a:rPr>
              <a:t>ction: Incorrect (98.69% Confidence).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Insight: Model successfully detects plural/singular conflicts.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a:t>
            </a:r>
            <a:r>
              <a:rPr lang="en-US" sz="2499" spc="-49">
                <a:solidFill>
                  <a:srgbClr val="00385D"/>
                </a:solidFill>
                <a:latin typeface="Poppins"/>
                <a:ea typeface="Poppins"/>
                <a:cs typeface="Poppins"/>
                <a:sym typeface="Poppins"/>
              </a:rPr>
              <a:t>yntactic Validity:</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Input: "He doesn't know the answer."</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P</a:t>
            </a:r>
            <a:r>
              <a:rPr lang="en-US" sz="2499" spc="-49">
                <a:solidFill>
                  <a:srgbClr val="00385D"/>
                </a:solidFill>
                <a:latin typeface="Poppins"/>
                <a:ea typeface="Poppins"/>
                <a:cs typeface="Poppins"/>
                <a:sym typeface="Poppins"/>
              </a:rPr>
              <a:t>rediction: Correct (97.90% Confidence).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Insigh</a:t>
            </a:r>
            <a:r>
              <a:rPr lang="en-US" sz="2499" spc="-49">
                <a:solidFill>
                  <a:srgbClr val="00385D"/>
                </a:solidFill>
                <a:latin typeface="Poppins"/>
                <a:ea typeface="Poppins"/>
                <a:cs typeface="Poppins"/>
                <a:sym typeface="Poppins"/>
              </a:rPr>
              <a:t>t: Model correctly handles negation, overcoming initial </a:t>
            </a:r>
            <a:r>
              <a:rPr lang="en-US" sz="2499" spc="-49">
                <a:solidFill>
                  <a:srgbClr val="00385D"/>
                </a:solidFill>
                <a:latin typeface="Poppins"/>
                <a:ea typeface="Poppins"/>
                <a:cs typeface="Poppins"/>
                <a:sym typeface="Poppins"/>
              </a:rPr>
              <a:t>tra</a:t>
            </a:r>
            <a:r>
              <a:rPr lang="en-US" sz="2499" spc="-49">
                <a:solidFill>
                  <a:srgbClr val="00385D"/>
                </a:solidFill>
                <a:latin typeface="Poppins"/>
                <a:ea typeface="Poppins"/>
                <a:cs typeface="Poppins"/>
                <a:sym typeface="Poppins"/>
              </a:rPr>
              <a:t>ining hurdles.</a:t>
            </a:r>
          </a:p>
          <a:p>
            <a:pPr algn="just">
              <a:lnSpc>
                <a:spcPts val="3499"/>
              </a:lnSpc>
            </a:pPr>
            <a:r>
              <a:rPr lang="en-US" sz="2499" spc="-49">
                <a:solidFill>
                  <a:srgbClr val="00385D"/>
                </a:solidFill>
                <a:latin typeface="Poppins"/>
                <a:ea typeface="Poppins"/>
                <a:cs typeface="Poppins"/>
                <a:sym typeface="Poppins"/>
              </a:rPr>
              <a:t>3</a:t>
            </a:r>
            <a:r>
              <a:rPr lang="en-US" sz="2499" spc="-49">
                <a:solidFill>
                  <a:srgbClr val="00385D"/>
                </a:solidFill>
                <a:latin typeface="Poppins"/>
                <a:ea typeface="Poppins"/>
                <a:cs typeface="Poppins"/>
                <a:sym typeface="Poppins"/>
              </a:rPr>
              <a:t>. Key Finding</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Fine-tuned BERT models provide a highly accurate, lightweight alte</a:t>
            </a:r>
            <a:r>
              <a:rPr lang="en-US" sz="2499" spc="-49">
                <a:solidFill>
                  <a:srgbClr val="00385D"/>
                </a:solidFill>
                <a:latin typeface="Poppins"/>
                <a:ea typeface="Poppins"/>
                <a:cs typeface="Poppins"/>
                <a:sym typeface="Poppins"/>
              </a:rPr>
              <a:t>rna</a:t>
            </a:r>
            <a:r>
              <a:rPr lang="en-US" sz="2499" spc="-49">
                <a:solidFill>
                  <a:srgbClr val="00385D"/>
                </a:solidFill>
                <a:latin typeface="Poppins"/>
                <a:ea typeface="Poppins"/>
                <a:cs typeface="Poppins"/>
                <a:sym typeface="Poppins"/>
              </a:rPr>
              <a:t>tive to Large Language Models (LLMs) for specific grammatical classification tasks.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1239878"/>
            <a:ext cx="9686383"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Conclusion</a:t>
            </a:r>
          </a:p>
        </p:txBody>
      </p:sp>
      <p:sp>
        <p:nvSpPr>
          <p:cNvPr name="TextBox 7" id="7"/>
          <p:cNvSpPr txBox="true"/>
          <p:nvPr/>
        </p:nvSpPr>
        <p:spPr>
          <a:xfrm rot="0">
            <a:off x="1028700" y="9440778"/>
            <a:ext cx="8793641" cy="405154"/>
          </a:xfrm>
          <a:prstGeom prst="rect">
            <a:avLst/>
          </a:prstGeom>
        </p:spPr>
        <p:txBody>
          <a:bodyPr anchor="t" rtlCol="false" tIns="0" lIns="0" bIns="0" rIns="0">
            <a:spAutoFit/>
          </a:bodyPr>
          <a:lstStyle/>
          <a:p>
            <a:pPr algn="l">
              <a:lnSpc>
                <a:spcPts val="3149"/>
              </a:lnSpc>
            </a:pPr>
            <a:r>
              <a:rPr lang="en-US" sz="2249" spc="-44" b="true">
                <a:solidFill>
                  <a:srgbClr val="00385D"/>
                </a:solidFill>
                <a:latin typeface="Poppins Bold"/>
                <a:ea typeface="Poppins Bold"/>
                <a:cs typeface="Poppins Bold"/>
                <a:sym typeface="Poppins Bold"/>
              </a:rPr>
              <a:t>Del  Castillo, Christian Joaquin R.</a:t>
            </a:r>
          </a:p>
        </p:txBody>
      </p:sp>
      <p:sp>
        <p:nvSpPr>
          <p:cNvPr name="Freeform 8" id="8"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9" id="9"/>
          <p:cNvGrpSpPr/>
          <p:nvPr/>
        </p:nvGrpSpPr>
        <p:grpSpPr>
          <a:xfrm rot="0">
            <a:off x="1028700" y="322992"/>
            <a:ext cx="5125998" cy="1041724"/>
            <a:chOff x="0" y="0"/>
            <a:chExt cx="6834664" cy="1388966"/>
          </a:xfrm>
        </p:grpSpPr>
        <p:sp>
          <p:nvSpPr>
            <p:cNvPr name="Freeform 10" id="10"/>
            <p:cNvSpPr/>
            <p:nvPr/>
          </p:nvSpPr>
          <p:spPr>
            <a:xfrm flipH="false" flipV="false" rot="0">
              <a:off x="0" y="0"/>
              <a:ext cx="1388966" cy="1388966"/>
            </a:xfrm>
            <a:custGeom>
              <a:avLst/>
              <a:gdLst/>
              <a:ahLst/>
              <a:cxnLst/>
              <a:rect r="r" b="b" t="t" l="l"/>
              <a:pathLst>
                <a:path h="1388966" w="1388966">
                  <a:moveTo>
                    <a:pt x="0" y="0"/>
                  </a:moveTo>
                  <a:lnTo>
                    <a:pt x="1388966" y="0"/>
                  </a:lnTo>
                  <a:lnTo>
                    <a:pt x="1388966" y="1388966"/>
                  </a:lnTo>
                  <a:lnTo>
                    <a:pt x="0" y="1388966"/>
                  </a:lnTo>
                  <a:lnTo>
                    <a:pt x="0" y="0"/>
                  </a:lnTo>
                  <a:close/>
                </a:path>
              </a:pathLst>
            </a:custGeom>
            <a:blipFill>
              <a:blip r:embed="rId5"/>
              <a:stretch>
                <a:fillRect l="0" t="0" r="0" b="0"/>
              </a:stretch>
            </a:blipFill>
          </p:spPr>
        </p:sp>
        <p:sp>
          <p:nvSpPr>
            <p:cNvPr name="Freeform 11" id="11" descr="Upscale Image"/>
            <p:cNvSpPr/>
            <p:nvPr/>
          </p:nvSpPr>
          <p:spPr>
            <a:xfrm flipH="false" flipV="false" rot="0">
              <a:off x="1493425" y="180200"/>
              <a:ext cx="5341239" cy="1208766"/>
            </a:xfrm>
            <a:custGeom>
              <a:avLst/>
              <a:gdLst/>
              <a:ahLst/>
              <a:cxnLst/>
              <a:rect r="r" b="b" t="t" l="l"/>
              <a:pathLst>
                <a:path h="1208766" w="5341239">
                  <a:moveTo>
                    <a:pt x="0" y="0"/>
                  </a:moveTo>
                  <a:lnTo>
                    <a:pt x="5341239" y="0"/>
                  </a:lnTo>
                  <a:lnTo>
                    <a:pt x="5341239" y="1208766"/>
                  </a:lnTo>
                  <a:lnTo>
                    <a:pt x="0" y="1208766"/>
                  </a:lnTo>
                  <a:lnTo>
                    <a:pt x="0" y="0"/>
                  </a:lnTo>
                  <a:close/>
                </a:path>
              </a:pathLst>
            </a:custGeom>
            <a:blipFill>
              <a:blip r:embed="rId6"/>
              <a:stretch>
                <a:fillRect l="-29293" t="-38537" r="-131051" b="-508562"/>
              </a:stretch>
            </a:blipFill>
          </p:spPr>
        </p:sp>
      </p:grpSp>
      <p:grpSp>
        <p:nvGrpSpPr>
          <p:cNvPr name="Group 12" id="12"/>
          <p:cNvGrpSpPr/>
          <p:nvPr/>
        </p:nvGrpSpPr>
        <p:grpSpPr>
          <a:xfrm rot="0">
            <a:off x="8606118" y="303942"/>
            <a:ext cx="6415877" cy="815667"/>
            <a:chOff x="0" y="0"/>
            <a:chExt cx="8554503" cy="1087556"/>
          </a:xfrm>
        </p:grpSpPr>
        <p:sp>
          <p:nvSpPr>
            <p:cNvPr name="TextBox 13" id="13"/>
            <p:cNvSpPr txBox="true"/>
            <p:nvPr/>
          </p:nvSpPr>
          <p:spPr>
            <a:xfrm rot="0">
              <a:off x="1434353" y="499335"/>
              <a:ext cx="7120150" cy="588222"/>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19, 2025</a:t>
              </a:r>
            </a:p>
          </p:txBody>
        </p:sp>
        <p:sp>
          <p:nvSpPr>
            <p:cNvPr name="TextBox 14" id="14"/>
            <p:cNvSpPr txBox="true"/>
            <p:nvPr/>
          </p:nvSpPr>
          <p:spPr>
            <a:xfrm rot="0">
              <a:off x="0" y="-66675"/>
              <a:ext cx="8554503" cy="588222"/>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a:t>
              </a:r>
            </a:p>
          </p:txBody>
        </p:sp>
      </p:grpSp>
      <p:sp>
        <p:nvSpPr>
          <p:cNvPr name="TextBox 15" id="15"/>
          <p:cNvSpPr txBox="true"/>
          <p:nvPr/>
        </p:nvSpPr>
        <p:spPr>
          <a:xfrm rot="0">
            <a:off x="1028700" y="3648559"/>
            <a:ext cx="16230600" cy="3508375"/>
          </a:xfrm>
          <a:prstGeom prst="rect">
            <a:avLst/>
          </a:prstGeom>
        </p:spPr>
        <p:txBody>
          <a:bodyPr anchor="t" rtlCol="false" tIns="0" lIns="0" bIns="0" rIns="0">
            <a:spAutoFit/>
          </a:bodyPr>
          <a:lstStyle/>
          <a:p>
            <a:pPr algn="just">
              <a:lnSpc>
                <a:spcPts val="3499"/>
              </a:lnSpc>
            </a:pPr>
            <a:r>
              <a:rPr lang="en-US" sz="2499" spc="-49">
                <a:solidFill>
                  <a:srgbClr val="00385D"/>
                </a:solidFill>
                <a:latin typeface="Poppins"/>
                <a:ea typeface="Poppins"/>
                <a:cs typeface="Poppins"/>
                <a:sym typeface="Poppins"/>
              </a:rPr>
              <a:t>Achieveme</a:t>
            </a:r>
            <a:r>
              <a:rPr lang="en-US" sz="2499" spc="-49">
                <a:solidFill>
                  <a:srgbClr val="00385D"/>
                </a:solidFill>
                <a:latin typeface="Poppins"/>
                <a:ea typeface="Poppins"/>
                <a:cs typeface="Poppins"/>
                <a:sym typeface="Poppins"/>
              </a:rPr>
              <a:t>nts: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Successfully fine-tuned BERT for high-a</a:t>
            </a:r>
            <a:r>
              <a:rPr lang="en-US" sz="2499" spc="-49">
                <a:solidFill>
                  <a:srgbClr val="00385D"/>
                </a:solidFill>
                <a:latin typeface="Poppins"/>
                <a:ea typeface="Poppins"/>
                <a:cs typeface="Poppins"/>
                <a:sym typeface="Poppins"/>
              </a:rPr>
              <a:t>ccur</a:t>
            </a:r>
            <a:r>
              <a:rPr lang="en-US" sz="2499" spc="-49">
                <a:solidFill>
                  <a:srgbClr val="00385D"/>
                </a:solidFill>
                <a:latin typeface="Poppins"/>
                <a:ea typeface="Poppins"/>
                <a:cs typeface="Poppins"/>
                <a:sym typeface="Poppins"/>
              </a:rPr>
              <a:t>acy grammar classification (&gt;90% </a:t>
            </a:r>
            <a:r>
              <a:rPr lang="en-US" sz="2499" spc="-49">
                <a:solidFill>
                  <a:srgbClr val="00385D"/>
                </a:solidFill>
                <a:latin typeface="Poppins"/>
                <a:ea typeface="Poppins"/>
                <a:cs typeface="Poppins"/>
                <a:sym typeface="Poppins"/>
              </a:rPr>
              <a:t>F1)</a:t>
            </a:r>
            <a:r>
              <a:rPr lang="en-US" sz="2499" spc="-49">
                <a:solidFill>
                  <a:srgbClr val="00385D"/>
                </a:solidFill>
                <a:latin typeface="Poppins"/>
                <a:ea typeface="Poppins"/>
                <a:cs typeface="Poppins"/>
                <a:sym typeface="Poppins"/>
              </a:rPr>
              <a:t>.</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Validated Random Search as an efficient</a:t>
            </a:r>
            <a:r>
              <a:rPr lang="en-US" sz="2499" spc="-49">
                <a:solidFill>
                  <a:srgbClr val="00385D"/>
                </a:solidFill>
                <a:latin typeface="Poppins"/>
                <a:ea typeface="Poppins"/>
                <a:cs typeface="Poppins"/>
                <a:sym typeface="Poppins"/>
              </a:rPr>
              <a:t> opt</a:t>
            </a:r>
            <a:r>
              <a:rPr lang="en-US" sz="2499" spc="-49">
                <a:solidFill>
                  <a:srgbClr val="00385D"/>
                </a:solidFill>
                <a:latin typeface="Poppins"/>
                <a:ea typeface="Poppins"/>
                <a:cs typeface="Poppins"/>
                <a:sym typeface="Poppins"/>
              </a:rPr>
              <a:t>imization strategy.</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C</a:t>
            </a:r>
            <a:r>
              <a:rPr lang="en-US" sz="2499" spc="-49">
                <a:solidFill>
                  <a:srgbClr val="00385D"/>
                </a:solidFill>
                <a:latin typeface="Poppins"/>
                <a:ea typeface="Poppins"/>
                <a:cs typeface="Poppins"/>
                <a:sym typeface="Poppins"/>
              </a:rPr>
              <a:t>rea</a:t>
            </a:r>
            <a:r>
              <a:rPr lang="en-US" sz="2499" spc="-49">
                <a:solidFill>
                  <a:srgbClr val="00385D"/>
                </a:solidFill>
                <a:latin typeface="Poppins"/>
                <a:ea typeface="Poppins"/>
                <a:cs typeface="Poppins"/>
                <a:sym typeface="Poppins"/>
              </a:rPr>
              <a:t>ted a functional "classifier + lookup" prototype.</a:t>
            </a:r>
          </a:p>
          <a:p>
            <a:pPr algn="just">
              <a:lnSpc>
                <a:spcPts val="3499"/>
              </a:lnSpc>
            </a:pPr>
          </a:p>
          <a:p>
            <a:pPr algn="just">
              <a:lnSpc>
                <a:spcPts val="3499"/>
              </a:lnSpc>
            </a:pPr>
            <a:r>
              <a:rPr lang="en-US" sz="2499" spc="-49">
                <a:solidFill>
                  <a:srgbClr val="00385D"/>
                </a:solidFill>
                <a:latin typeface="Poppins"/>
                <a:ea typeface="Poppins"/>
                <a:cs typeface="Poppins"/>
                <a:sym typeface="Poppins"/>
              </a:rPr>
              <a:t>Impa</a:t>
            </a:r>
            <a:r>
              <a:rPr lang="en-US" sz="2499" spc="-49">
                <a:solidFill>
                  <a:srgbClr val="00385D"/>
                </a:solidFill>
                <a:latin typeface="Poppins"/>
                <a:ea typeface="Poppins"/>
                <a:cs typeface="Poppins"/>
                <a:sym typeface="Poppins"/>
              </a:rPr>
              <a:t>ct:</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Demon</a:t>
            </a:r>
            <a:r>
              <a:rPr lang="en-US" sz="2499" spc="-49">
                <a:solidFill>
                  <a:srgbClr val="00385D"/>
                </a:solidFill>
                <a:latin typeface="Poppins"/>
                <a:ea typeface="Poppins"/>
                <a:cs typeface="Poppins"/>
                <a:sym typeface="Poppins"/>
              </a:rPr>
              <a:t>s</a:t>
            </a:r>
            <a:r>
              <a:rPr lang="en-US" sz="2499" spc="-49">
                <a:solidFill>
                  <a:srgbClr val="00385D"/>
                </a:solidFill>
                <a:latin typeface="Poppins"/>
                <a:ea typeface="Poppins"/>
                <a:cs typeface="Poppins"/>
                <a:sym typeface="Poppins"/>
              </a:rPr>
              <a:t>trates that specialized BERT models are efficient alte</a:t>
            </a:r>
            <a:r>
              <a:rPr lang="en-US" sz="2499" spc="-49">
                <a:solidFill>
                  <a:srgbClr val="00385D"/>
                </a:solidFill>
                <a:latin typeface="Poppins"/>
                <a:ea typeface="Poppins"/>
                <a:cs typeface="Poppins"/>
                <a:sym typeface="Poppins"/>
              </a:rPr>
              <a:t>rna</a:t>
            </a:r>
            <a:r>
              <a:rPr lang="en-US" sz="2499" spc="-49">
                <a:solidFill>
                  <a:srgbClr val="00385D"/>
                </a:solidFill>
                <a:latin typeface="Poppins"/>
                <a:ea typeface="Poppins"/>
                <a:cs typeface="Poppins"/>
                <a:sym typeface="Poppins"/>
              </a:rPr>
              <a:t>tives to massive LLMs for specific tasks.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Contributes to digital literacy tools.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1239878"/>
            <a:ext cx="9686383"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References</a:t>
            </a:r>
          </a:p>
        </p:txBody>
      </p:sp>
      <p:sp>
        <p:nvSpPr>
          <p:cNvPr name="TextBox 7" id="7"/>
          <p:cNvSpPr txBox="true"/>
          <p:nvPr/>
        </p:nvSpPr>
        <p:spPr>
          <a:xfrm rot="0">
            <a:off x="1028700" y="9440778"/>
            <a:ext cx="8793641" cy="405154"/>
          </a:xfrm>
          <a:prstGeom prst="rect">
            <a:avLst/>
          </a:prstGeom>
        </p:spPr>
        <p:txBody>
          <a:bodyPr anchor="t" rtlCol="false" tIns="0" lIns="0" bIns="0" rIns="0">
            <a:spAutoFit/>
          </a:bodyPr>
          <a:lstStyle/>
          <a:p>
            <a:pPr algn="l">
              <a:lnSpc>
                <a:spcPts val="3149"/>
              </a:lnSpc>
            </a:pPr>
            <a:r>
              <a:rPr lang="en-US" sz="2249" spc="-44" b="true">
                <a:solidFill>
                  <a:srgbClr val="00385D"/>
                </a:solidFill>
                <a:latin typeface="Poppins Bold"/>
                <a:ea typeface="Poppins Bold"/>
                <a:cs typeface="Poppins Bold"/>
                <a:sym typeface="Poppins Bold"/>
              </a:rPr>
              <a:t>Del  Castillo, Christian Joaquin R.</a:t>
            </a:r>
          </a:p>
        </p:txBody>
      </p:sp>
      <p:sp>
        <p:nvSpPr>
          <p:cNvPr name="Freeform 8" id="8"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9" id="9"/>
          <p:cNvGrpSpPr/>
          <p:nvPr/>
        </p:nvGrpSpPr>
        <p:grpSpPr>
          <a:xfrm rot="0">
            <a:off x="1028700" y="322992"/>
            <a:ext cx="5125998" cy="1041724"/>
            <a:chOff x="0" y="0"/>
            <a:chExt cx="6834664" cy="1388966"/>
          </a:xfrm>
        </p:grpSpPr>
        <p:sp>
          <p:nvSpPr>
            <p:cNvPr name="Freeform 10" id="10"/>
            <p:cNvSpPr/>
            <p:nvPr/>
          </p:nvSpPr>
          <p:spPr>
            <a:xfrm flipH="false" flipV="false" rot="0">
              <a:off x="0" y="0"/>
              <a:ext cx="1388966" cy="1388966"/>
            </a:xfrm>
            <a:custGeom>
              <a:avLst/>
              <a:gdLst/>
              <a:ahLst/>
              <a:cxnLst/>
              <a:rect r="r" b="b" t="t" l="l"/>
              <a:pathLst>
                <a:path h="1388966" w="1388966">
                  <a:moveTo>
                    <a:pt x="0" y="0"/>
                  </a:moveTo>
                  <a:lnTo>
                    <a:pt x="1388966" y="0"/>
                  </a:lnTo>
                  <a:lnTo>
                    <a:pt x="1388966" y="1388966"/>
                  </a:lnTo>
                  <a:lnTo>
                    <a:pt x="0" y="1388966"/>
                  </a:lnTo>
                  <a:lnTo>
                    <a:pt x="0" y="0"/>
                  </a:lnTo>
                  <a:close/>
                </a:path>
              </a:pathLst>
            </a:custGeom>
            <a:blipFill>
              <a:blip r:embed="rId5"/>
              <a:stretch>
                <a:fillRect l="0" t="0" r="0" b="0"/>
              </a:stretch>
            </a:blipFill>
          </p:spPr>
        </p:sp>
        <p:sp>
          <p:nvSpPr>
            <p:cNvPr name="Freeform 11" id="11" descr="Upscale Image"/>
            <p:cNvSpPr/>
            <p:nvPr/>
          </p:nvSpPr>
          <p:spPr>
            <a:xfrm flipH="false" flipV="false" rot="0">
              <a:off x="1493425" y="180200"/>
              <a:ext cx="5341239" cy="1208766"/>
            </a:xfrm>
            <a:custGeom>
              <a:avLst/>
              <a:gdLst/>
              <a:ahLst/>
              <a:cxnLst/>
              <a:rect r="r" b="b" t="t" l="l"/>
              <a:pathLst>
                <a:path h="1208766" w="5341239">
                  <a:moveTo>
                    <a:pt x="0" y="0"/>
                  </a:moveTo>
                  <a:lnTo>
                    <a:pt x="5341239" y="0"/>
                  </a:lnTo>
                  <a:lnTo>
                    <a:pt x="5341239" y="1208766"/>
                  </a:lnTo>
                  <a:lnTo>
                    <a:pt x="0" y="1208766"/>
                  </a:lnTo>
                  <a:lnTo>
                    <a:pt x="0" y="0"/>
                  </a:lnTo>
                  <a:close/>
                </a:path>
              </a:pathLst>
            </a:custGeom>
            <a:blipFill>
              <a:blip r:embed="rId6"/>
              <a:stretch>
                <a:fillRect l="-29293" t="-38537" r="-131051" b="-508562"/>
              </a:stretch>
            </a:blipFill>
          </p:spPr>
        </p:sp>
      </p:grpSp>
      <p:grpSp>
        <p:nvGrpSpPr>
          <p:cNvPr name="Group 12" id="12"/>
          <p:cNvGrpSpPr/>
          <p:nvPr/>
        </p:nvGrpSpPr>
        <p:grpSpPr>
          <a:xfrm rot="0">
            <a:off x="8606118" y="303942"/>
            <a:ext cx="6415877" cy="815667"/>
            <a:chOff x="0" y="0"/>
            <a:chExt cx="8554503" cy="1087556"/>
          </a:xfrm>
        </p:grpSpPr>
        <p:sp>
          <p:nvSpPr>
            <p:cNvPr name="TextBox 13" id="13"/>
            <p:cNvSpPr txBox="true"/>
            <p:nvPr/>
          </p:nvSpPr>
          <p:spPr>
            <a:xfrm rot="0">
              <a:off x="1434353" y="499335"/>
              <a:ext cx="7120150" cy="588222"/>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19, 2025</a:t>
              </a:r>
            </a:p>
          </p:txBody>
        </p:sp>
        <p:sp>
          <p:nvSpPr>
            <p:cNvPr name="TextBox 14" id="14"/>
            <p:cNvSpPr txBox="true"/>
            <p:nvPr/>
          </p:nvSpPr>
          <p:spPr>
            <a:xfrm rot="0">
              <a:off x="0" y="-66675"/>
              <a:ext cx="8554503" cy="588222"/>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a:t>
              </a:r>
            </a:p>
          </p:txBody>
        </p:sp>
      </p:grpSp>
      <p:sp>
        <p:nvSpPr>
          <p:cNvPr name="TextBox 15" id="15"/>
          <p:cNvSpPr txBox="true"/>
          <p:nvPr/>
        </p:nvSpPr>
        <p:spPr>
          <a:xfrm rot="0">
            <a:off x="1028700" y="3202456"/>
            <a:ext cx="16230600" cy="5260975"/>
          </a:xfrm>
          <a:prstGeom prst="rect">
            <a:avLst/>
          </a:prstGeom>
        </p:spPr>
        <p:txBody>
          <a:bodyPr anchor="t" rtlCol="false" tIns="0" lIns="0" bIns="0" rIns="0">
            <a:spAutoFit/>
          </a:bodyPr>
          <a:lstStyle/>
          <a:p>
            <a:pPr algn="just" marL="539749" indent="-269875" lvl="1">
              <a:lnSpc>
                <a:spcPts val="3499"/>
              </a:lnSpc>
              <a:buAutoNum type="arabicPeriod" startAt="1"/>
            </a:pPr>
            <a:r>
              <a:rPr lang="en-US" sz="2499" spc="-49">
                <a:solidFill>
                  <a:srgbClr val="00385D"/>
                </a:solidFill>
                <a:latin typeface="Poppins"/>
                <a:ea typeface="Poppins"/>
                <a:cs typeface="Poppins"/>
                <a:sym typeface="Poppins"/>
              </a:rPr>
              <a:t>S. Sangkala, “Artificial Intellige</a:t>
            </a:r>
            <a:r>
              <a:rPr lang="en-US" sz="2499" spc="-49">
                <a:solidFill>
                  <a:srgbClr val="00385D"/>
                </a:solidFill>
                <a:latin typeface="Poppins"/>
                <a:ea typeface="Poppins"/>
                <a:cs typeface="Poppins"/>
                <a:sym typeface="Poppins"/>
              </a:rPr>
              <a:t>nce as a Personalized Tutor in Lang</a:t>
            </a:r>
            <a:r>
              <a:rPr lang="en-US" sz="2499" spc="-49">
                <a:solidFill>
                  <a:srgbClr val="00385D"/>
                </a:solidFill>
                <a:latin typeface="Poppins"/>
                <a:ea typeface="Poppins"/>
                <a:cs typeface="Poppins"/>
                <a:sym typeface="Poppins"/>
              </a:rPr>
              <a:t>u</a:t>
            </a:r>
            <a:r>
              <a:rPr lang="en-US" sz="2499" spc="-49">
                <a:solidFill>
                  <a:srgbClr val="00385D"/>
                </a:solidFill>
                <a:latin typeface="Poppins"/>
                <a:ea typeface="Poppins"/>
                <a:cs typeface="Poppins"/>
                <a:sym typeface="Poppins"/>
              </a:rPr>
              <a:t>age Learning: A Systematic Review,” Klasikal Journal, 2024. </a:t>
            </a:r>
          </a:p>
          <a:p>
            <a:pPr algn="just" marL="539749" indent="-269875" lvl="1">
              <a:lnSpc>
                <a:spcPts val="3499"/>
              </a:lnSpc>
              <a:buAutoNum type="arabicPeriod" startAt="1"/>
            </a:pPr>
            <a:r>
              <a:rPr lang="en-US" sz="2499" spc="-49">
                <a:solidFill>
                  <a:srgbClr val="00385D"/>
                </a:solidFill>
                <a:latin typeface="Poppins"/>
                <a:ea typeface="Poppins"/>
                <a:cs typeface="Poppins"/>
                <a:sym typeface="Poppins"/>
              </a:rPr>
              <a:t>J. Dev</a:t>
            </a:r>
            <a:r>
              <a:rPr lang="en-US" sz="2499" spc="-49">
                <a:solidFill>
                  <a:srgbClr val="00385D"/>
                </a:solidFill>
                <a:latin typeface="Poppins"/>
                <a:ea typeface="Poppins"/>
                <a:cs typeface="Poppins"/>
                <a:sym typeface="Poppins"/>
              </a:rPr>
              <a:t>lin, M. Chang, K. Lee, and K. Toutanova, “BERT: Pre-training</a:t>
            </a:r>
            <a:r>
              <a:rPr lang="en-US" sz="2499" spc="-49">
                <a:solidFill>
                  <a:srgbClr val="00385D"/>
                </a:solidFill>
                <a:latin typeface="Poppins"/>
                <a:ea typeface="Poppins"/>
                <a:cs typeface="Poppins"/>
                <a:sym typeface="Poppins"/>
              </a:rPr>
              <a:t> of Deep B</a:t>
            </a:r>
            <a:r>
              <a:rPr lang="en-US" sz="2499" spc="-49">
                <a:solidFill>
                  <a:srgbClr val="00385D"/>
                </a:solidFill>
                <a:latin typeface="Poppins"/>
                <a:ea typeface="Poppins"/>
                <a:cs typeface="Poppins"/>
                <a:sym typeface="Poppins"/>
              </a:rPr>
              <a:t>idirectional Transformers for Language Understanding,” NAACL-HLT, 2019.</a:t>
            </a:r>
          </a:p>
          <a:p>
            <a:pPr algn="just" marL="539749" indent="-269875" lvl="1">
              <a:lnSpc>
                <a:spcPts val="3499"/>
              </a:lnSpc>
              <a:buAutoNum type="arabicPeriod" startAt="1"/>
            </a:pPr>
            <a:r>
              <a:rPr lang="en-US" sz="2499" spc="-49">
                <a:solidFill>
                  <a:srgbClr val="00385D"/>
                </a:solidFill>
                <a:latin typeface="Poppins"/>
                <a:ea typeface="Poppins"/>
                <a:cs typeface="Poppins"/>
                <a:sym typeface="Poppins"/>
              </a:rPr>
              <a:t>A. Rahman et al., “A Simpl</a:t>
            </a:r>
            <a:r>
              <a:rPr lang="en-US" sz="2499" spc="-49">
                <a:solidFill>
                  <a:srgbClr val="00385D"/>
                </a:solidFill>
                <a:latin typeface="Poppins"/>
                <a:ea typeface="Poppins"/>
                <a:cs typeface="Poppins"/>
                <a:sym typeface="Poppins"/>
              </a:rPr>
              <a:t>e but Effective Classification Model for Grammatical Error Correction,” arXiv, 2018.</a:t>
            </a:r>
          </a:p>
          <a:p>
            <a:pPr algn="just" marL="539749" indent="-269875" lvl="1">
              <a:lnSpc>
                <a:spcPts val="3499"/>
              </a:lnSpc>
              <a:buAutoNum type="arabicPeriod" startAt="1"/>
            </a:pPr>
            <a:r>
              <a:rPr lang="en-US" sz="2499" spc="-49">
                <a:solidFill>
                  <a:srgbClr val="00385D"/>
                </a:solidFill>
                <a:latin typeface="Poppins"/>
                <a:ea typeface="Poppins"/>
                <a:cs typeface="Poppins"/>
                <a:sym typeface="Poppins"/>
              </a:rPr>
              <a:t>United Nations, "Sustainable Development Goal 4," 2025.</a:t>
            </a:r>
          </a:p>
          <a:p>
            <a:pPr algn="just" marL="539749" indent="-269875" lvl="1">
              <a:lnSpc>
                <a:spcPts val="3499"/>
              </a:lnSpc>
              <a:buAutoNum type="arabicPeriod" startAt="1"/>
            </a:pPr>
            <a:r>
              <a:rPr lang="en-US" sz="2499" spc="-49">
                <a:solidFill>
                  <a:srgbClr val="00385D"/>
                </a:solidFill>
                <a:latin typeface="Poppins"/>
                <a:ea typeface="Poppins"/>
                <a:cs typeface="Poppins"/>
                <a:sym typeface="Poppins"/>
              </a:rPr>
              <a:t>HuggingF</a:t>
            </a:r>
            <a:r>
              <a:rPr lang="en-US" sz="2499" spc="-49">
                <a:solidFill>
                  <a:srgbClr val="00385D"/>
                </a:solidFill>
                <a:latin typeface="Poppins"/>
                <a:ea typeface="Poppins"/>
                <a:cs typeface="Poppins"/>
                <a:sym typeface="Poppins"/>
              </a:rPr>
              <a:t>a</a:t>
            </a:r>
            <a:r>
              <a:rPr lang="en-US" sz="2499" spc="-49">
                <a:solidFill>
                  <a:srgbClr val="00385D"/>
                </a:solidFill>
                <a:latin typeface="Poppins"/>
                <a:ea typeface="Poppins"/>
                <a:cs typeface="Poppins"/>
                <a:sym typeface="Poppins"/>
              </a:rPr>
              <a:t>ce Tran</a:t>
            </a:r>
            <a:r>
              <a:rPr lang="en-US" sz="2499" spc="-49">
                <a:solidFill>
                  <a:srgbClr val="00385D"/>
                </a:solidFill>
                <a:latin typeface="Poppins"/>
                <a:ea typeface="Poppins"/>
                <a:cs typeface="Poppins"/>
                <a:sym typeface="Poppins"/>
              </a:rPr>
              <a:t>sfo</a:t>
            </a:r>
            <a:r>
              <a:rPr lang="en-US" sz="2499" spc="-49">
                <a:solidFill>
                  <a:srgbClr val="00385D"/>
                </a:solidFill>
                <a:latin typeface="Poppins"/>
                <a:ea typeface="Poppins"/>
                <a:cs typeface="Poppins"/>
                <a:sym typeface="Poppins"/>
              </a:rPr>
              <a:t>rmers Documentation. Available:</a:t>
            </a:r>
            <a:r>
              <a:rPr lang="en-US" sz="2499" spc="-49" u="sng">
                <a:solidFill>
                  <a:srgbClr val="00385D"/>
                </a:solidFill>
                <a:latin typeface="Poppins"/>
                <a:ea typeface="Poppins"/>
                <a:cs typeface="Poppins"/>
                <a:sym typeface="Poppins"/>
                <a:hlinkClick r:id="rId7" tooltip="https://huggingface.co/docs"/>
              </a:rPr>
              <a:t> https://huggingface.co/docs</a:t>
            </a:r>
          </a:p>
          <a:p>
            <a:pPr algn="just" marL="539749" indent="-269875" lvl="1">
              <a:lnSpc>
                <a:spcPts val="3499"/>
              </a:lnSpc>
              <a:buAutoNum type="arabicPeriod" startAt="1"/>
            </a:pPr>
            <a:r>
              <a:rPr lang="en-US" sz="2499" spc="-49">
                <a:solidFill>
                  <a:srgbClr val="00385D"/>
                </a:solidFill>
                <a:latin typeface="Poppins"/>
                <a:ea typeface="Poppins"/>
                <a:cs typeface="Poppins"/>
                <a:sym typeface="Poppins"/>
              </a:rPr>
              <a:t>scikit-learn Documentation. Available:</a:t>
            </a:r>
            <a:r>
              <a:rPr lang="en-US" sz="2499" spc="-49" u="sng">
                <a:solidFill>
                  <a:srgbClr val="00385D"/>
                </a:solidFill>
                <a:latin typeface="Poppins"/>
                <a:ea typeface="Poppins"/>
                <a:cs typeface="Poppins"/>
                <a:sym typeface="Poppins"/>
                <a:hlinkClick r:id="rId8" tooltip="https://scikit-learn.org"/>
              </a:rPr>
              <a:t> https://scikit-lea</a:t>
            </a:r>
            <a:r>
              <a:rPr lang="en-US" sz="2499" spc="-49" u="sng">
                <a:solidFill>
                  <a:srgbClr val="00385D"/>
                </a:solidFill>
                <a:latin typeface="Poppins"/>
                <a:ea typeface="Poppins"/>
                <a:cs typeface="Poppins"/>
                <a:sym typeface="Poppins"/>
                <a:hlinkClick r:id="rId9" tooltip="https://scikit-learn.org"/>
              </a:rPr>
              <a:t>rn.org/</a:t>
            </a:r>
          </a:p>
          <a:p>
            <a:pPr algn="just" marL="539749" indent="-269875" lvl="1">
              <a:lnSpc>
                <a:spcPts val="3499"/>
              </a:lnSpc>
              <a:buAutoNum type="arabicPeriod" startAt="1"/>
            </a:pPr>
            <a:r>
              <a:rPr lang="en-US" sz="2499" spc="-49">
                <a:solidFill>
                  <a:srgbClr val="00385D"/>
                </a:solidFill>
                <a:latin typeface="Poppins"/>
                <a:ea typeface="Poppins"/>
                <a:cs typeface="Poppins"/>
                <a:sym typeface="Poppins"/>
              </a:rPr>
              <a:t>Sa</a:t>
            </a:r>
            <a:r>
              <a:rPr lang="en-US" sz="2499" spc="-49">
                <a:solidFill>
                  <a:srgbClr val="00385D"/>
                </a:solidFill>
                <a:latin typeface="Poppins"/>
                <a:ea typeface="Poppins"/>
                <a:cs typeface="Poppins"/>
                <a:sym typeface="Poppins"/>
              </a:rPr>
              <a:t>tish Gunjal, “Grammar-Correction,” Kaggle dataset, Nov. 2022. Available:</a:t>
            </a:r>
            <a:r>
              <a:rPr lang="en-US" sz="2499" spc="-49" u="sng">
                <a:solidFill>
                  <a:srgbClr val="00385D"/>
                </a:solidFill>
                <a:latin typeface="Poppins"/>
                <a:ea typeface="Poppins"/>
                <a:cs typeface="Poppins"/>
                <a:sym typeface="Poppins"/>
                <a:hlinkClick r:id="rId10" tooltip="https://www.kaggle.com/datasets/satishgunjal/grammar-correction"/>
              </a:rPr>
              <a:t> https://www.kaggle.com/datasets/satishgunjal/grammar-correction</a:t>
            </a:r>
          </a:p>
          <a:p>
            <a:pPr algn="just">
              <a:lnSpc>
                <a:spcPts val="34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2792981" y="3321821"/>
            <a:ext cx="12702039" cy="4167233"/>
          </a:xfrm>
          <a:prstGeom prst="rect">
            <a:avLst/>
          </a:prstGeom>
        </p:spPr>
        <p:txBody>
          <a:bodyPr anchor="t" rtlCol="false" tIns="0" lIns="0" bIns="0" rIns="0">
            <a:spAutoFit/>
          </a:bodyPr>
          <a:lstStyle/>
          <a:p>
            <a:pPr algn="ctr">
              <a:lnSpc>
                <a:spcPts val="14816"/>
              </a:lnSpc>
            </a:pPr>
            <a:r>
              <a:rPr lang="en-US" b="true" sz="18520" spc="-370">
                <a:solidFill>
                  <a:srgbClr val="00385D"/>
                </a:solidFill>
                <a:latin typeface="Poppins Bold"/>
                <a:ea typeface="Poppins Bold"/>
                <a:cs typeface="Poppins Bold"/>
                <a:sym typeface="Poppins Bold"/>
              </a:rPr>
              <a:t>Thank You!</a:t>
            </a:r>
          </a:p>
        </p:txBody>
      </p:sp>
      <p:grpSp>
        <p:nvGrpSpPr>
          <p:cNvPr name="Group 4" id="4"/>
          <p:cNvGrpSpPr/>
          <p:nvPr/>
        </p:nvGrpSpPr>
        <p:grpSpPr>
          <a:xfrm rot="-5400000">
            <a:off x="18918335" y="282866"/>
            <a:ext cx="178381" cy="6477187"/>
            <a:chOff x="0" y="0"/>
            <a:chExt cx="46981" cy="1705926"/>
          </a:xfrm>
        </p:grpSpPr>
        <p:sp>
          <p:nvSpPr>
            <p:cNvPr name="Freeform 5" id="5"/>
            <p:cNvSpPr/>
            <p:nvPr/>
          </p:nvSpPr>
          <p:spPr>
            <a:xfrm flipH="false" flipV="false" rot="0">
              <a:off x="0" y="0"/>
              <a:ext cx="46981" cy="1705926"/>
            </a:xfrm>
            <a:custGeom>
              <a:avLst/>
              <a:gdLst/>
              <a:ahLst/>
              <a:cxnLst/>
              <a:rect r="r" b="b" t="t" l="l"/>
              <a:pathLst>
                <a:path h="1705926" w="46981">
                  <a:moveTo>
                    <a:pt x="0" y="0"/>
                  </a:moveTo>
                  <a:lnTo>
                    <a:pt x="46981" y="0"/>
                  </a:lnTo>
                  <a:lnTo>
                    <a:pt x="46981" y="1705926"/>
                  </a:lnTo>
                  <a:lnTo>
                    <a:pt x="0" y="1705926"/>
                  </a:lnTo>
                  <a:close/>
                </a:path>
              </a:pathLst>
            </a:custGeom>
            <a:solidFill>
              <a:srgbClr val="00385D"/>
            </a:solidFill>
          </p:spPr>
        </p:sp>
        <p:sp>
          <p:nvSpPr>
            <p:cNvPr name="TextBox 6" id="6"/>
            <p:cNvSpPr txBox="true"/>
            <p:nvPr/>
          </p:nvSpPr>
          <p:spPr>
            <a:xfrm>
              <a:off x="0" y="-66675"/>
              <a:ext cx="46981" cy="1772601"/>
            </a:xfrm>
            <a:prstGeom prst="rect">
              <a:avLst/>
            </a:prstGeom>
          </p:spPr>
          <p:txBody>
            <a:bodyPr anchor="ctr" rtlCol="false" tIns="50800" lIns="50800" bIns="50800" rIns="50800"/>
            <a:lstStyle/>
            <a:p>
              <a:pPr algn="just">
                <a:lnSpc>
                  <a:spcPts val="3640"/>
                </a:lnSpc>
              </a:pPr>
            </a:p>
          </p:txBody>
        </p:sp>
      </p:grpSp>
      <p:grpSp>
        <p:nvGrpSpPr>
          <p:cNvPr name="Group 7" id="7"/>
          <p:cNvGrpSpPr/>
          <p:nvPr/>
        </p:nvGrpSpPr>
        <p:grpSpPr>
          <a:xfrm rot="-5400000">
            <a:off x="375854" y="4808332"/>
            <a:ext cx="178381" cy="6477187"/>
            <a:chOff x="0" y="0"/>
            <a:chExt cx="46981" cy="1705926"/>
          </a:xfrm>
        </p:grpSpPr>
        <p:sp>
          <p:nvSpPr>
            <p:cNvPr name="Freeform 8" id="8"/>
            <p:cNvSpPr/>
            <p:nvPr/>
          </p:nvSpPr>
          <p:spPr>
            <a:xfrm flipH="false" flipV="false" rot="0">
              <a:off x="0" y="0"/>
              <a:ext cx="46981" cy="1705926"/>
            </a:xfrm>
            <a:custGeom>
              <a:avLst/>
              <a:gdLst/>
              <a:ahLst/>
              <a:cxnLst/>
              <a:rect r="r" b="b" t="t" l="l"/>
              <a:pathLst>
                <a:path h="1705926" w="46981">
                  <a:moveTo>
                    <a:pt x="0" y="0"/>
                  </a:moveTo>
                  <a:lnTo>
                    <a:pt x="46981" y="0"/>
                  </a:lnTo>
                  <a:lnTo>
                    <a:pt x="46981" y="1705926"/>
                  </a:lnTo>
                  <a:lnTo>
                    <a:pt x="0" y="1705926"/>
                  </a:lnTo>
                  <a:close/>
                </a:path>
              </a:pathLst>
            </a:custGeom>
            <a:solidFill>
              <a:srgbClr val="00385D"/>
            </a:solidFill>
          </p:spPr>
        </p:sp>
        <p:sp>
          <p:nvSpPr>
            <p:cNvPr name="TextBox 9" id="9"/>
            <p:cNvSpPr txBox="true"/>
            <p:nvPr/>
          </p:nvSpPr>
          <p:spPr>
            <a:xfrm>
              <a:off x="0" y="-66675"/>
              <a:ext cx="46981" cy="1772601"/>
            </a:xfrm>
            <a:prstGeom prst="rect">
              <a:avLst/>
            </a:prstGeom>
          </p:spPr>
          <p:txBody>
            <a:bodyPr anchor="ctr" rtlCol="false" tIns="50800" lIns="50800" bIns="50800" rIns="50800"/>
            <a:lstStyle/>
            <a:p>
              <a:pPr algn="just">
                <a:lnSpc>
                  <a:spcPts val="3640"/>
                </a:lnSpc>
              </a:pPr>
            </a:p>
          </p:txBody>
        </p:sp>
      </p:grpSp>
      <p:sp>
        <p:nvSpPr>
          <p:cNvPr name="Freeform 10" id="10"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4"/>
            <a:stretch>
              <a:fillRect l="-372463" t="0" r="0" b="-205708"/>
            </a:stretch>
          </a:blipFill>
        </p:spPr>
      </p:sp>
      <p:grpSp>
        <p:nvGrpSpPr>
          <p:cNvPr name="Group 11" id="11"/>
          <p:cNvGrpSpPr/>
          <p:nvPr/>
        </p:nvGrpSpPr>
        <p:grpSpPr>
          <a:xfrm rot="0">
            <a:off x="1028700" y="322992"/>
            <a:ext cx="5915033" cy="1202075"/>
            <a:chOff x="0" y="0"/>
            <a:chExt cx="7886711" cy="1602766"/>
          </a:xfrm>
        </p:grpSpPr>
        <p:sp>
          <p:nvSpPr>
            <p:cNvPr name="Freeform 12" id="12"/>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5"/>
              <a:stretch>
                <a:fillRect l="0" t="0" r="0" b="0"/>
              </a:stretch>
            </a:blipFill>
          </p:spPr>
        </p:sp>
        <p:sp>
          <p:nvSpPr>
            <p:cNvPr name="Freeform 13" id="13"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6"/>
              <a:stretch>
                <a:fillRect l="-29293" t="-38537" r="-131051" b="-508562"/>
              </a:stretch>
            </a:blipFill>
          </p:spPr>
        </p:sp>
      </p:grpSp>
      <p:grpSp>
        <p:nvGrpSpPr>
          <p:cNvPr name="Group 14" id="14"/>
          <p:cNvGrpSpPr/>
          <p:nvPr/>
        </p:nvGrpSpPr>
        <p:grpSpPr>
          <a:xfrm rot="0">
            <a:off x="1028700" y="8845663"/>
            <a:ext cx="5744785" cy="741807"/>
            <a:chOff x="0" y="0"/>
            <a:chExt cx="7659713" cy="989076"/>
          </a:xfrm>
        </p:grpSpPr>
        <p:sp>
          <p:nvSpPr>
            <p:cNvPr name="TextBox 15" id="15"/>
            <p:cNvSpPr txBox="true"/>
            <p:nvPr/>
          </p:nvSpPr>
          <p:spPr>
            <a:xfrm rot="0">
              <a:off x="0" y="-66675"/>
              <a:ext cx="3233281" cy="588222"/>
            </a:xfrm>
            <a:prstGeom prst="rect">
              <a:avLst/>
            </a:prstGeom>
          </p:spPr>
          <p:txBody>
            <a:bodyPr anchor="t" rtlCol="false" tIns="0" lIns="0" bIns="0" rIns="0">
              <a:spAutoFit/>
            </a:bodyPr>
            <a:lstStyle/>
            <a:p>
              <a:pPr algn="l">
                <a:lnSpc>
                  <a:spcPts val="3640"/>
                </a:lnSpc>
              </a:pPr>
              <a:r>
                <a:rPr lang="en-US" sz="2600" i="true">
                  <a:solidFill>
                    <a:srgbClr val="00385D"/>
                  </a:solidFill>
                  <a:latin typeface="Poppins Italics"/>
                  <a:ea typeface="Poppins Italics"/>
                  <a:cs typeface="Poppins Italics"/>
                  <a:sym typeface="Poppins Italics"/>
                </a:rPr>
                <a:t>Presented by</a:t>
              </a:r>
            </a:p>
          </p:txBody>
        </p:sp>
        <p:sp>
          <p:nvSpPr>
            <p:cNvPr name="TextBox 16" id="16"/>
            <p:cNvSpPr txBox="true"/>
            <p:nvPr/>
          </p:nvSpPr>
          <p:spPr>
            <a:xfrm rot="0">
              <a:off x="0" y="484886"/>
              <a:ext cx="7659713" cy="504190"/>
            </a:xfrm>
            <a:prstGeom prst="rect">
              <a:avLst/>
            </a:prstGeom>
          </p:spPr>
          <p:txBody>
            <a:bodyPr anchor="t" rtlCol="false" tIns="0" lIns="0" bIns="0" rIns="0">
              <a:spAutoFit/>
            </a:bodyPr>
            <a:lstStyle/>
            <a:p>
              <a:pPr algn="l">
                <a:lnSpc>
                  <a:spcPts val="2730"/>
                </a:lnSpc>
              </a:pPr>
              <a:r>
                <a:rPr lang="en-US" sz="2600" spc="-52" b="true">
                  <a:solidFill>
                    <a:srgbClr val="00385D"/>
                  </a:solidFill>
                  <a:latin typeface="Poppins Bold"/>
                  <a:ea typeface="Poppins Bold"/>
                  <a:cs typeface="Poppins Bold"/>
                  <a:sym typeface="Poppins Bold"/>
                </a:rPr>
                <a:t>Del Castillo, Christian Joaquin</a:t>
              </a:r>
            </a:p>
          </p:txBody>
        </p:sp>
      </p:grpSp>
      <p:grpSp>
        <p:nvGrpSpPr>
          <p:cNvPr name="Group 17" id="17"/>
          <p:cNvGrpSpPr/>
          <p:nvPr/>
        </p:nvGrpSpPr>
        <p:grpSpPr>
          <a:xfrm rot="0">
            <a:off x="8606118" y="303942"/>
            <a:ext cx="6415877" cy="815816"/>
            <a:chOff x="0" y="0"/>
            <a:chExt cx="8554503" cy="1087755"/>
          </a:xfrm>
        </p:grpSpPr>
        <p:sp>
          <p:nvSpPr>
            <p:cNvPr name="TextBox 18" id="18"/>
            <p:cNvSpPr txBox="true"/>
            <p:nvPr/>
          </p:nvSpPr>
          <p:spPr>
            <a:xfrm rot="0">
              <a:off x="1434353" y="499434"/>
              <a:ext cx="7120150" cy="588321"/>
            </a:xfrm>
            <a:prstGeom prst="rect">
              <a:avLst/>
            </a:prstGeom>
          </p:spPr>
          <p:txBody>
            <a:bodyPr anchor="t" rtlCol="false" tIns="0" lIns="0" bIns="0" rIns="0">
              <a:spAutoFit/>
            </a:bodyPr>
            <a:lstStyle/>
            <a:p>
              <a:pPr algn="r">
                <a:lnSpc>
                  <a:spcPts val="3640"/>
                </a:lnSpc>
              </a:pPr>
              <a:r>
                <a:rPr lang="en-US" sz="2600">
                  <a:solidFill>
                    <a:srgbClr val="00385D"/>
                  </a:solidFill>
                  <a:latin typeface="Poppins"/>
                  <a:ea typeface="Poppins"/>
                  <a:cs typeface="Poppins"/>
                  <a:sym typeface="Poppins"/>
                </a:rPr>
                <a:t>November 06, 2025</a:t>
              </a:r>
            </a:p>
          </p:txBody>
        </p:sp>
        <p:sp>
          <p:nvSpPr>
            <p:cNvPr name="TextBox 19" id="19"/>
            <p:cNvSpPr txBox="true"/>
            <p:nvPr/>
          </p:nvSpPr>
          <p:spPr>
            <a:xfrm rot="0">
              <a:off x="0" y="-66675"/>
              <a:ext cx="8554503" cy="588321"/>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Project Update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DAG2g60Jvxw</dc:identifier>
  <dcterms:modified xsi:type="dcterms:W3CDTF">2011-08-01T06:04:30Z</dcterms:modified>
  <cp:revision>1</cp:revision>
  <dc:title>Final Project presentation ITE4</dc:title>
</cp:coreProperties>
</file>